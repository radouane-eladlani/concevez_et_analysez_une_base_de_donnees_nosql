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6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20CFFF-F919-4D83-BEA6-3D01F2943300}" v="526" dt="2026-01-06T13:21:42.8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054" y="1124712"/>
            <a:ext cx="8277606" cy="3172968"/>
          </a:xfrm>
        </p:spPr>
        <p:txBody>
          <a:bodyPr anchor="b">
            <a:normAutofit/>
          </a:bodyPr>
          <a:lstStyle>
            <a:lvl1pPr algn="l">
              <a:defRPr sz="1066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054" y="4727448"/>
            <a:ext cx="8277606" cy="1481328"/>
          </a:xfrm>
        </p:spPr>
        <p:txBody>
          <a:bodyPr>
            <a:normAutofit/>
          </a:bodyPr>
          <a:lstStyle>
            <a:lvl1pPr marL="0" indent="0" algn="l">
              <a:buNone/>
              <a:defRPr sz="3733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054" y="6356351"/>
            <a:ext cx="2057400" cy="365125"/>
          </a:xfrm>
        </p:spPr>
        <p:txBody>
          <a:bodyPr/>
          <a:lstStyle/>
          <a:p>
            <a:fld id="{965A7A7B-B71A-428D-833F-0F3507A6DB13}" type="datetimeFigureOut">
              <a:rPr lang="en-US" dirty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2260" y="6356351"/>
            <a:ext cx="20574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‹N°›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624870" y="434802"/>
            <a:ext cx="146304" cy="5280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433989" y="4501201"/>
            <a:ext cx="8276022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80570108"/>
      </p:ext>
    </p:extLst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418657" y="0"/>
            <a:ext cx="8375585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374126" y="787352"/>
            <a:ext cx="96012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>
            <a:lvl1pPr>
              <a:defRPr sz="53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2478024"/>
            <a:ext cx="7626096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" y="6356351"/>
            <a:ext cx="2057400" cy="365125"/>
          </a:xfrm>
        </p:spPr>
        <p:txBody>
          <a:bodyPr/>
          <a:lstStyle/>
          <a:p>
            <a:fld id="{5CF65307-640F-4AE7-B0BE-50C709AD86C5}" type="datetimeFigureOut">
              <a:rPr lang="en-US" dirty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5372" y="6356351"/>
            <a:ext cx="20574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761252"/>
      </p:ext>
    </p:extLst>
  </p:cSld>
  <p:clrMapOvr>
    <a:masterClrMapping/>
  </p:clrMapOvr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418658" y="4981421"/>
            <a:ext cx="8351217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374126" y="5118581"/>
            <a:ext cx="109728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338" y="640080"/>
            <a:ext cx="8167878" cy="4114800"/>
          </a:xfrm>
        </p:spPr>
        <p:txBody>
          <a:bodyPr anchor="b">
            <a:normAutofit/>
          </a:bodyPr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936" y="5102352"/>
            <a:ext cx="795528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667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A1F9-1F0F-4C65-8F6E-9729B924AAAC}" type="datetimeFigureOut">
              <a:rPr lang="en-US" dirty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617616"/>
      </p:ext>
    </p:extLst>
  </p:cSld>
  <p:clrMapOvr>
    <a:masterClrMapping/>
  </p:clrMapOvr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418657" y="0"/>
            <a:ext cx="8375585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374126" y="787352"/>
            <a:ext cx="96012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>
            <a:lvl1pPr>
              <a:defRPr sz="53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6676" y="2478024"/>
            <a:ext cx="370332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59452" y="2478024"/>
            <a:ext cx="370332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" y="6356351"/>
            <a:ext cx="2057400" cy="365125"/>
          </a:xfrm>
        </p:spPr>
        <p:txBody>
          <a:bodyPr/>
          <a:lstStyle/>
          <a:p>
            <a:fld id="{202278E8-5F4B-47D5-A617-8CCDF75D6A33}" type="datetimeFigureOut">
              <a:rPr lang="en-US" dirty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5372" y="6356351"/>
            <a:ext cx="20574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018204"/>
      </p:ext>
    </p:extLst>
  </p:cSld>
  <p:clrMapOvr>
    <a:masterClrMapping/>
  </p:clrMapOvr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418657" y="0"/>
            <a:ext cx="8375585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374126" y="787352"/>
            <a:ext cx="96012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>
            <a:lvl1pPr>
              <a:defRPr sz="53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76" y="2372650"/>
            <a:ext cx="3703320" cy="823912"/>
          </a:xfrm>
        </p:spPr>
        <p:txBody>
          <a:bodyPr anchor="b"/>
          <a:lstStyle>
            <a:lvl1pPr marL="0" indent="0">
              <a:buNone/>
              <a:defRPr sz="3200" b="1" cap="none" baseline="0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76" y="3203688"/>
            <a:ext cx="3703320" cy="2968512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9452" y="2372650"/>
            <a:ext cx="3703320" cy="823912"/>
          </a:xfrm>
        </p:spPr>
        <p:txBody>
          <a:bodyPr anchor="b"/>
          <a:lstStyle>
            <a:lvl1pPr marL="0" indent="0">
              <a:buNone/>
              <a:defRPr sz="3200" b="1" cap="none" baseline="0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9452" y="3203688"/>
            <a:ext cx="3703320" cy="2968511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" y="6356351"/>
            <a:ext cx="2057400" cy="365125"/>
          </a:xfrm>
        </p:spPr>
        <p:txBody>
          <a:bodyPr/>
          <a:lstStyle/>
          <a:p>
            <a:fld id="{16AAFA52-7A21-407F-8339-40DF182D7460}" type="datetimeFigureOut">
              <a:rPr lang="en-US" dirty="0"/>
              <a:t>1/6/2026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5372" y="6356351"/>
            <a:ext cx="20574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378688"/>
      </p:ext>
    </p:extLst>
  </p:cSld>
  <p:clrMapOvr>
    <a:masterClrMapping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499390" y="1533525"/>
            <a:ext cx="8187797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456813" y="2971798"/>
            <a:ext cx="96012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244" y="1938528"/>
            <a:ext cx="7632954" cy="2990088"/>
          </a:xfrm>
        </p:spPr>
        <p:txBody>
          <a:bodyPr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0335-1C1A-4243-9BDD-9630C417D284}" type="datetimeFigureOut">
              <a:rPr lang="en-US" dirty="0"/>
              <a:t>1/6/2026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730406"/>
      </p:ext>
    </p:extLst>
  </p:cSld>
  <p:clrMapOvr>
    <a:masterClrMapping/>
  </p:clrMapOvr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1513F-8EBD-4612-96F4-CC3E309609AF}" type="datetimeFigureOut">
              <a:rPr lang="en-US" dirty="0"/>
              <a:t>1/6/2026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045333"/>
      </p:ext>
    </p:extLst>
  </p:cSld>
  <p:clrMapOvr>
    <a:masterClrMapping/>
  </p:clrMapOvr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418658" y="1162033"/>
            <a:ext cx="2805555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374126" y="1618375"/>
            <a:ext cx="109728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510" y="1709928"/>
            <a:ext cx="2324862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45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3894" y="1709928"/>
            <a:ext cx="5047488" cy="4096512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1510" y="3429000"/>
            <a:ext cx="2324862" cy="2066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1510" y="6356351"/>
            <a:ext cx="2057400" cy="365125"/>
          </a:xfrm>
        </p:spPr>
        <p:txBody>
          <a:bodyPr/>
          <a:lstStyle/>
          <a:p>
            <a:fld id="{6E6483A1-31A8-47A2-AB0A-53A7803D5EBF}" type="datetimeFigureOut">
              <a:rPr lang="en-US" dirty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155674"/>
      </p:ext>
    </p:extLst>
  </p:cSld>
  <p:clrMapOvr>
    <a:masterClrMapping/>
  </p:clrMapOvr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418658" y="1162033"/>
            <a:ext cx="2805555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374126" y="1618375"/>
            <a:ext cx="109728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510" y="1709928"/>
            <a:ext cx="2324862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45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723894" y="1161288"/>
            <a:ext cx="5047488" cy="4645152"/>
          </a:xfrm>
        </p:spPr>
        <p:txBody>
          <a:bodyPr anchor="t">
            <a:normAutofit/>
          </a:bodyPr>
          <a:lstStyle>
            <a:lvl1pPr marL="0" indent="0">
              <a:buNone/>
              <a:defRPr sz="3733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1510" y="3438144"/>
            <a:ext cx="2324862" cy="20574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1510" y="6356351"/>
            <a:ext cx="2057400" cy="365125"/>
          </a:xfrm>
        </p:spPr>
        <p:txBody>
          <a:bodyPr/>
          <a:lstStyle/>
          <a:p>
            <a:fld id="{6D8810B9-2C7C-4CAF-99E2-617AE20BA331}" type="datetimeFigureOut">
              <a:rPr lang="en-US" dirty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972830"/>
      </p:ext>
    </p:extLst>
  </p:cSld>
  <p:clrMapOvr>
    <a:masterClrMapping/>
  </p:clrMapOvr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8F9EB-9D34-4B41-B66C-5FAF50876D2D}" type="datetimeFigureOut">
              <a:rPr lang="en-US" dirty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208373"/>
      </p:ext>
    </p:extLst>
  </p:cSld>
  <p:clrMapOvr>
    <a:masterClrMapping/>
  </p:clrMapOvr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89A26-CAA1-4690-8C1F-1641B1B97745}" type="datetimeFigureOut">
              <a:rPr lang="en-US" dirty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040114"/>
      </p:ext>
    </p:extLst>
  </p:cSld>
  <p:clrMapOvr>
    <a:masterClrMapping/>
  </p:clrMapOvr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93E0A-5177-400C-87C9-C93AF466EC49}" type="datetimeFigureOut">
              <a:rPr lang="en-US" dirty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17615-2DB4-4DAA-9DE3-B2B689A846E0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052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54F0A2-FBCE-0CC2-5877-E76CED0B7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52" y="4467718"/>
            <a:ext cx="8163790" cy="670383"/>
          </a:xfrm>
        </p:spPr>
        <p:txBody>
          <a:bodyPr anchor="ctr">
            <a:normAutofit fontScale="90000"/>
          </a:bodyPr>
          <a:lstStyle/>
          <a:p>
            <a:r>
              <a:rPr lang="fr-FR" sz="2400" b="1" dirty="0">
                <a:ea typeface="+mj-lt"/>
                <a:cs typeface="+mj-lt"/>
              </a:rPr>
              <a:t>Analyse de la base données MongoDB – Locations courte durée à Paris/Lyon</a:t>
            </a:r>
            <a:endParaRPr lang="fr-FR" sz="2400" dirty="0">
              <a:ea typeface="Calibri"/>
              <a:cs typeface="Calibri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AED116-1C34-A52C-F7EE-7324F7E64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572" y="5883867"/>
            <a:ext cx="2234323" cy="8770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r">
              <a:buNone/>
            </a:pPr>
            <a:r>
              <a:rPr lang="fr-FR" sz="1600">
                <a:ea typeface="Calibri"/>
                <a:cs typeface="Calibri"/>
              </a:rPr>
              <a:t>Radouane EL ADLANI 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EF2D4F59-E3F3-D727-C0A6-C363CBF620FE}"/>
              </a:ext>
            </a:extLst>
          </p:cNvPr>
          <p:cNvSpPr txBox="1">
            <a:spLocks/>
          </p:cNvSpPr>
          <p:nvPr/>
        </p:nvSpPr>
        <p:spPr>
          <a:xfrm>
            <a:off x="491945" y="5997522"/>
            <a:ext cx="4232129" cy="8641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600">
                <a:ea typeface="Calibri"/>
                <a:cs typeface="Calibri"/>
              </a:rPr>
              <a:t>Association NosCités – Projet Data Engineering</a:t>
            </a:r>
          </a:p>
          <a:p>
            <a:pPr>
              <a:buFont typeface="Arial"/>
              <a:buChar char="•"/>
            </a:pPr>
            <a:endParaRPr lang="fr-FR" sz="1600">
              <a:ea typeface="Calibri"/>
              <a:cs typeface="Calibri"/>
            </a:endParaRPr>
          </a:p>
        </p:txBody>
      </p:sp>
      <p:pic>
        <p:nvPicPr>
          <p:cNvPr id="7" name="Image 6" descr="Une image contenant texte, plein air, appartement, façade&#10;&#10;Le contenu généré par l’IA peut être incorrect.">
            <a:extLst>
              <a:ext uri="{FF2B5EF4-FFF2-40B4-BE49-F238E27FC236}">
                <a16:creationId xmlns:a16="http://schemas.microsoft.com/office/drawing/2014/main" id="{342AE6B0-9394-AC45-1320-E3651A01F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29" y="97841"/>
            <a:ext cx="8886392" cy="420348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65948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246" y="386930"/>
            <a:ext cx="754959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 dirty="0"/>
              <a:t>Contexte</a:t>
            </a:r>
            <a:r>
              <a:rPr lang="en-US" sz="2800" kern="1200" dirty="0">
                <a:latin typeface="+mj-lt"/>
                <a:ea typeface="+mj-ea"/>
                <a:cs typeface="+mj-cs"/>
              </a:rPr>
              <a:t> du </a:t>
            </a:r>
            <a:r>
              <a:rPr lang="en-US" sz="2800" kern="1200" err="1">
                <a:latin typeface="+mj-lt"/>
                <a:ea typeface="+mj-ea"/>
                <a:cs typeface="+mj-cs"/>
              </a:rPr>
              <a:t>projet</a:t>
            </a:r>
            <a:endParaRPr lang="en-US" sz="2800" kern="1200">
              <a:latin typeface="+mj-lt"/>
              <a:ea typeface="Calibri"/>
              <a:cs typeface="Calibr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3B807D6-5D38-F91C-1FE9-A38CD6ABD183}"/>
              </a:ext>
            </a:extLst>
          </p:cNvPr>
          <p:cNvSpPr txBox="1"/>
          <p:nvPr/>
        </p:nvSpPr>
        <p:spPr>
          <a:xfrm>
            <a:off x="595245" y="2599509"/>
            <a:ext cx="4644934" cy="363945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defTabSz="91440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</a:pPr>
            <a:r>
              <a:rPr lang="en-US" sz="1700" dirty="0"/>
              <a:t>L’association </a:t>
            </a:r>
            <a:r>
              <a:rPr lang="en-US" sz="1700" err="1"/>
              <a:t>NosCités</a:t>
            </a:r>
            <a:r>
              <a:rPr lang="en-US" sz="1700" dirty="0"/>
              <a:t> </a:t>
            </a:r>
            <a:r>
              <a:rPr lang="en-US" sz="1700" err="1"/>
              <a:t>analyse</a:t>
            </a:r>
            <a:r>
              <a:rPr lang="en-US" sz="1700" dirty="0"/>
              <a:t> </a:t>
            </a:r>
            <a:r>
              <a:rPr lang="en-US" sz="1700" err="1"/>
              <a:t>l’impact</a:t>
            </a:r>
            <a:r>
              <a:rPr lang="en-US" sz="1700" dirty="0"/>
              <a:t> des </a:t>
            </a:r>
            <a:r>
              <a:rPr lang="en-US" sz="1700" err="1"/>
              <a:t>plateformes</a:t>
            </a:r>
            <a:r>
              <a:rPr lang="en-US" sz="1700" dirty="0"/>
              <a:t> de locations de </a:t>
            </a:r>
            <a:r>
              <a:rPr lang="en-US" sz="1700" err="1"/>
              <a:t>courte</a:t>
            </a:r>
            <a:r>
              <a:rPr lang="en-US" sz="1700" dirty="0"/>
              <a:t> durée à Paris et Lyon sur </a:t>
            </a:r>
            <a:r>
              <a:rPr lang="en-US" sz="1700" err="1"/>
              <a:t>l’offre</a:t>
            </a:r>
            <a:r>
              <a:rPr lang="en-US" sz="1700" dirty="0"/>
              <a:t> de </a:t>
            </a:r>
            <a:r>
              <a:rPr lang="en-US" sz="1700" err="1"/>
              <a:t>logements</a:t>
            </a:r>
            <a:r>
              <a:rPr lang="en-US" sz="1700" dirty="0"/>
              <a:t>.</a:t>
            </a:r>
            <a:br>
              <a:rPr lang="en-US" sz="1700" dirty="0"/>
            </a:br>
            <a:r>
              <a:rPr lang="en-US" sz="1700" dirty="0"/>
              <a:t>Suite à un crash de la base de données de Paris, nous </a:t>
            </a:r>
            <a:r>
              <a:rPr lang="en-US" sz="1700" err="1"/>
              <a:t>avons</a:t>
            </a:r>
            <a:r>
              <a:rPr lang="en-US" sz="1700" dirty="0"/>
              <a:t> </a:t>
            </a:r>
            <a:r>
              <a:rPr lang="en-US" sz="1700" err="1"/>
              <a:t>restauré</a:t>
            </a:r>
            <a:r>
              <a:rPr lang="en-US" sz="1700" dirty="0"/>
              <a:t> les données de 2024 pour </a:t>
            </a:r>
            <a:r>
              <a:rPr lang="en-US" sz="1700" err="1"/>
              <a:t>étudier</a:t>
            </a:r>
            <a:r>
              <a:rPr lang="en-US" sz="1700" dirty="0"/>
              <a:t> </a:t>
            </a:r>
            <a:r>
              <a:rPr lang="en-US" sz="1700" err="1"/>
              <a:t>l’effet</a:t>
            </a:r>
            <a:r>
              <a:rPr lang="en-US" sz="1700" dirty="0"/>
              <a:t> des Jeux </a:t>
            </a:r>
            <a:r>
              <a:rPr lang="en-US" sz="1700" err="1"/>
              <a:t>Olympiques</a:t>
            </a:r>
            <a:r>
              <a:rPr lang="en-US" sz="1700" dirty="0"/>
              <a:t> sur </a:t>
            </a:r>
            <a:r>
              <a:rPr lang="en-US" sz="1700" err="1"/>
              <a:t>l’offre</a:t>
            </a:r>
            <a:r>
              <a:rPr lang="en-US" sz="1700" dirty="0"/>
              <a:t> locative. </a:t>
            </a:r>
            <a:endParaRPr lang="fr-FR" dirty="0"/>
          </a:p>
          <a:p>
            <a:pPr indent="-228600" defTabSz="9144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>
              <a:ea typeface="Calibri"/>
              <a:cs typeface="Calibri"/>
            </a:endParaRPr>
          </a:p>
        </p:txBody>
      </p:sp>
      <p:pic>
        <p:nvPicPr>
          <p:cNvPr id="8" name="Image 7" descr="Une image contenant Police, Graphique, logo, texte&#10;&#10;Le contenu généré par l’IA peut être incorrect.">
            <a:extLst>
              <a:ext uri="{FF2B5EF4-FFF2-40B4-BE49-F238E27FC236}">
                <a16:creationId xmlns:a16="http://schemas.microsoft.com/office/drawing/2014/main" id="{48689802-F873-8BBF-BB25-89A6FDD13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2129" y="3166358"/>
            <a:ext cx="2945724" cy="18980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5452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fr-FR" sz="2800">
                <a:ea typeface="+mj-lt"/>
                <a:cs typeface="+mj-lt"/>
              </a:rPr>
              <a:t>Choix NoSQL</a:t>
            </a:r>
            <a:endParaRPr lang="fr-FR" sz="2800"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 sz="2000" i="1">
                <a:ea typeface="+mn-lt"/>
                <a:cs typeface="+mn-lt"/>
              </a:rPr>
              <a:t>Pourquoi NoSQL plutôt qu’une base SQL classique ?</a:t>
            </a:r>
          </a:p>
          <a:p>
            <a:pPr marL="0" indent="0">
              <a:buNone/>
            </a:pPr>
            <a:endParaRPr lang="fr-FR" sz="2000" i="1">
              <a:ea typeface="Calibri"/>
              <a:cs typeface="Calibri"/>
            </a:endParaRPr>
          </a:p>
          <a:p>
            <a:r>
              <a:rPr lang="fr-FR" sz="2000">
                <a:ea typeface="+mn-lt"/>
                <a:cs typeface="+mn-lt"/>
              </a:rPr>
              <a:t>Les données sont volumineuses et hétérogènes (~96 000 annonces).</a:t>
            </a:r>
            <a:endParaRPr lang="fr-FR"/>
          </a:p>
          <a:p>
            <a:r>
              <a:rPr lang="fr-FR" sz="2000">
                <a:ea typeface="+mn-lt"/>
                <a:cs typeface="+mn-lt"/>
              </a:rPr>
              <a:t>Chaque annonce contient des champs variés : textes, nombres, booléens, dates, listes imbriquées.</a:t>
            </a:r>
            <a:endParaRPr lang="fr-FR"/>
          </a:p>
          <a:p>
            <a:r>
              <a:rPr lang="fr-FR" sz="2000">
                <a:ea typeface="+mn-lt"/>
                <a:cs typeface="+mn-lt"/>
              </a:rPr>
              <a:t>Les bases SQL seraient rigides et moins efficaces pour ce type de requêtes analytiques.</a:t>
            </a:r>
            <a:endParaRPr lang="fr-FR"/>
          </a:p>
          <a:p>
            <a:r>
              <a:rPr lang="fr-FR" sz="2000">
                <a:ea typeface="+mn-lt"/>
                <a:cs typeface="+mn-lt"/>
              </a:rPr>
              <a:t>MongoDB permet de stocker chaque annonce sous forme de document JSON flexible et facilement interrogeable.</a:t>
            </a:r>
            <a:endParaRPr lang="fr-FR"/>
          </a:p>
          <a:p>
            <a:pPr marL="0" indent="0">
              <a:buNone/>
            </a:pPr>
            <a:endParaRPr lang="fr-FR" sz="2000" i="1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798" y="525982"/>
            <a:ext cx="3354304" cy="1006633"/>
          </a:xfrm>
        </p:spPr>
        <p:txBody>
          <a:bodyPr anchor="b">
            <a:normAutofit fontScale="90000"/>
          </a:bodyPr>
          <a:lstStyle/>
          <a:p>
            <a:r>
              <a:rPr lang="en-US" sz="2900">
                <a:ea typeface="+mj-lt"/>
                <a:cs typeface="+mj-lt"/>
              </a:rPr>
              <a:t>Vérification des données importées</a:t>
            </a:r>
            <a:endParaRPr lang="fr-FR" sz="29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3799" y="2031101"/>
            <a:ext cx="2793338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400" dirty="0">
                <a:ea typeface="+mn-lt"/>
                <a:cs typeface="+mn-lt"/>
              </a:rPr>
              <a:t>Nombre total de documents </a:t>
            </a:r>
            <a:r>
              <a:rPr lang="en-US" sz="1400" err="1">
                <a:ea typeface="+mn-lt"/>
                <a:cs typeface="+mn-lt"/>
              </a:rPr>
              <a:t>importés</a:t>
            </a:r>
            <a:r>
              <a:rPr lang="en-US" sz="1400" dirty="0">
                <a:ea typeface="+mn-lt"/>
                <a:cs typeface="+mn-lt"/>
              </a:rPr>
              <a:t> : 95 885</a:t>
            </a:r>
            <a:endParaRPr lang="en-US" sz="1400" dirty="0">
              <a:ea typeface="Calibri"/>
              <a:cs typeface="Calibri"/>
            </a:endParaRPr>
          </a:p>
          <a:p>
            <a:r>
              <a:rPr lang="en-US" sz="1400" dirty="0">
                <a:ea typeface="+mn-lt"/>
                <a:cs typeface="+mn-lt"/>
              </a:rPr>
              <a:t>Tous les champs </a:t>
            </a:r>
            <a:r>
              <a:rPr lang="en-US" sz="1400" err="1">
                <a:ea typeface="+mn-lt"/>
                <a:cs typeface="+mn-lt"/>
              </a:rPr>
              <a:t>principaux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présents</a:t>
            </a:r>
            <a:r>
              <a:rPr lang="en-US" sz="1400" dirty="0">
                <a:ea typeface="+mn-lt"/>
                <a:cs typeface="+mn-lt"/>
              </a:rPr>
              <a:t> et </a:t>
            </a:r>
            <a:r>
              <a:rPr lang="en-US" sz="1400" err="1">
                <a:ea typeface="+mn-lt"/>
                <a:cs typeface="+mn-lt"/>
              </a:rPr>
              <a:t>cohérents</a:t>
            </a:r>
            <a:r>
              <a:rPr lang="en-US" sz="1400" dirty="0">
                <a:ea typeface="+mn-lt"/>
                <a:cs typeface="+mn-lt"/>
              </a:rPr>
              <a:t> avec le CSV</a:t>
            </a:r>
            <a:endParaRPr lang="en-US" sz="1400" dirty="0"/>
          </a:p>
          <a:p>
            <a:endParaRPr lang="en-US" sz="1600">
              <a:ea typeface="Calibri"/>
              <a:cs typeface="Calibri"/>
            </a:endParaRPr>
          </a:p>
        </p:txBody>
      </p:sp>
      <p:pic>
        <p:nvPicPr>
          <p:cNvPr id="5" name="Image 4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BD3F9CF4-8C00-6325-447C-DC4F8715A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985" y="2371077"/>
            <a:ext cx="5407593" cy="41853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2800" dirty="0" err="1">
                <a:ea typeface="+mj-lt"/>
                <a:cs typeface="+mj-lt"/>
              </a:rPr>
              <a:t>Requête</a:t>
            </a:r>
            <a:r>
              <a:rPr lang="en-US" sz="2800" dirty="0">
                <a:ea typeface="+mj-lt"/>
                <a:cs typeface="+mj-lt"/>
              </a:rPr>
              <a:t> n°1 - </a:t>
            </a:r>
            <a:r>
              <a:rPr lang="en-US" sz="2800" dirty="0" err="1">
                <a:ea typeface="+mj-lt"/>
                <a:cs typeface="+mj-lt"/>
              </a:rPr>
              <a:t>Répartition</a:t>
            </a:r>
            <a:r>
              <a:rPr lang="en-US" sz="2800" dirty="0">
                <a:ea typeface="+mj-lt"/>
                <a:cs typeface="+mj-lt"/>
              </a:rPr>
              <a:t> des </a:t>
            </a:r>
            <a:r>
              <a:rPr lang="en-US" sz="2800" dirty="0" err="1">
                <a:ea typeface="+mj-lt"/>
                <a:cs typeface="+mj-lt"/>
              </a:rPr>
              <a:t>Annonces</a:t>
            </a:r>
            <a:r>
              <a:rPr lang="en-US" sz="2800" dirty="0">
                <a:ea typeface="+mj-lt"/>
                <a:cs typeface="+mj-lt"/>
              </a:rPr>
              <a:t> par type de location</a:t>
            </a:r>
            <a:endParaRPr lang="fr-FR" sz="2800" dirty="0">
              <a:ea typeface="Calibri"/>
              <a:cs typeface="Calibri"/>
            </a:endParaRPr>
          </a:p>
        </p:txBody>
      </p:sp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24F1D032-A628-1D64-41A5-59E53AAD54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2748777"/>
              </p:ext>
            </p:extLst>
          </p:nvPr>
        </p:nvGraphicFramePr>
        <p:xfrm>
          <a:off x="645762" y="3396711"/>
          <a:ext cx="7848455" cy="316358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592053">
                  <a:extLst>
                    <a:ext uri="{9D8B030D-6E8A-4147-A177-3AD203B41FA5}">
                      <a16:colId xmlns:a16="http://schemas.microsoft.com/office/drawing/2014/main" val="3977765281"/>
                    </a:ext>
                  </a:extLst>
                </a:gridCol>
                <a:gridCol w="4256402">
                  <a:extLst>
                    <a:ext uri="{9D8B030D-6E8A-4147-A177-3AD203B41FA5}">
                      <a16:colId xmlns:a16="http://schemas.microsoft.com/office/drawing/2014/main" val="303939115"/>
                    </a:ext>
                  </a:extLst>
                </a:gridCol>
              </a:tblGrid>
              <a:tr h="7331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/>
                        <a:t>Type de location</a:t>
                      </a:r>
                    </a:p>
                  </a:txBody>
                  <a:tcPr marL="163583" marR="163583" marT="81792" marB="81792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/>
                        <a:t>Nombre d’annonces</a:t>
                      </a:r>
                    </a:p>
                  </a:txBody>
                  <a:tcPr marL="163583" marR="163583" marT="81792" marB="81792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355530"/>
                  </a:ext>
                </a:extLst>
              </a:tr>
              <a:tr h="7331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 err="1"/>
                        <a:t>Entire</a:t>
                      </a:r>
                      <a:r>
                        <a:rPr lang="fr-FR" sz="2000"/>
                        <a:t> home/</a:t>
                      </a:r>
                      <a:r>
                        <a:rPr lang="fr-FR" sz="2000" err="1"/>
                        <a:t>apt</a:t>
                      </a:r>
                      <a:endParaRPr lang="fr-FR" sz="2000"/>
                    </a:p>
                  </a:txBody>
                  <a:tcPr marL="163583" marR="163583" marT="81792" marB="81792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000" b="0" i="0" u="none" strike="noStrike" noProof="0">
                          <a:latin typeface="Calibri"/>
                        </a:rPr>
                        <a:t>85733</a:t>
                      </a:r>
                      <a:endParaRPr lang="fr-FR" sz="2000"/>
                    </a:p>
                  </a:txBody>
                  <a:tcPr marL="163583" marR="163583" marT="81792" marB="81792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06845"/>
                  </a:ext>
                </a:extLst>
              </a:tr>
              <a:tr h="1181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 err="1"/>
                        <a:t>Private</a:t>
                      </a:r>
                      <a:r>
                        <a:rPr lang="fr-FR" sz="2000"/>
                        <a:t> room</a:t>
                      </a:r>
                    </a:p>
                    <a:p>
                      <a:pPr lvl="0">
                        <a:buNone/>
                      </a:pPr>
                      <a:endParaRPr lang="fr-FR" sz="2000" b="0" i="0" u="none" strike="noStrike" noProof="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fr-FR" sz="2000" b="0" i="0" u="none" strike="noStrike" noProof="0" err="1">
                          <a:latin typeface="Calibri"/>
                        </a:rPr>
                        <a:t>Hotel</a:t>
                      </a:r>
                      <a:r>
                        <a:rPr lang="fr-FR" sz="2000" b="0" i="0" u="none" strike="noStrike" noProof="0">
                          <a:latin typeface="Calibri"/>
                        </a:rPr>
                        <a:t> room</a:t>
                      </a:r>
                      <a:endParaRPr lang="fr-FR"/>
                    </a:p>
                  </a:txBody>
                  <a:tcPr marL="163583" marR="163583" marT="81792" marB="81792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000" b="0" i="0" u="none" strike="noStrike" noProof="0">
                          <a:latin typeface="Calibri"/>
                        </a:rPr>
                        <a:t>8975</a:t>
                      </a:r>
                    </a:p>
                    <a:p>
                      <a:pPr lvl="0">
                        <a:buNone/>
                      </a:pPr>
                      <a:endParaRPr lang="fr-FR" sz="2000" b="0" i="0" u="none" strike="noStrike" noProof="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fr-FR" sz="2000" b="0" i="0" u="none" strike="noStrike" noProof="0"/>
                        <a:t>776</a:t>
                      </a:r>
                      <a:endParaRPr lang="fr-FR"/>
                    </a:p>
                  </a:txBody>
                  <a:tcPr marL="163583" marR="163583" marT="81792" marB="81792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973839"/>
                  </a:ext>
                </a:extLst>
              </a:tr>
              <a:tr h="5159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 err="1"/>
                        <a:t>Shared</a:t>
                      </a:r>
                      <a:r>
                        <a:rPr lang="fr-FR" sz="2000"/>
                        <a:t> room</a:t>
                      </a:r>
                    </a:p>
                  </a:txBody>
                  <a:tcPr marL="163583" marR="163583" marT="81792" marB="81792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2000" b="0" i="0" u="none" strike="noStrike" noProof="0">
                          <a:latin typeface="Calibri"/>
                        </a:rPr>
                        <a:t>401</a:t>
                      </a:r>
                      <a:endParaRPr lang="fr-FR" sz="2000"/>
                    </a:p>
                  </a:txBody>
                  <a:tcPr marL="163583" marR="163583" marT="81792" marB="81792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3540125"/>
                  </a:ext>
                </a:extLst>
              </a:tr>
            </a:tbl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05FF9722-94AA-DCCB-747F-3F2F5C5D7ED2}"/>
              </a:ext>
            </a:extLst>
          </p:cNvPr>
          <p:cNvSpPr txBox="1"/>
          <p:nvPr/>
        </p:nvSpPr>
        <p:spPr>
          <a:xfrm>
            <a:off x="632847" y="2750949"/>
            <a:ext cx="783955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i="1">
                <a:ea typeface="+mn-lt"/>
                <a:cs typeface="+mn-lt"/>
              </a:rPr>
              <a:t>Nous avons regroupé les annonces par type de logement pour identifier la répartition de l’offre à Paris.</a:t>
            </a:r>
            <a:endParaRPr lang="fr-FR" i="1">
              <a:ea typeface="Calibri"/>
              <a:cs typeface="Calibri"/>
            </a:endParaRP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16E78CF1-0EE2-2445-8ECD-8EAC0918134A}"/>
              </a:ext>
            </a:extLst>
          </p:cNvPr>
          <p:cNvCxnSpPr/>
          <p:nvPr/>
        </p:nvCxnSpPr>
        <p:spPr>
          <a:xfrm>
            <a:off x="632848" y="5393843"/>
            <a:ext cx="7869783" cy="24883"/>
          </a:xfrm>
          <a:prstGeom prst="straightConnector1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err="1">
                <a:ea typeface="+mj-lt"/>
                <a:cs typeface="+mj-lt"/>
              </a:rPr>
              <a:t>Requête</a:t>
            </a:r>
            <a:r>
              <a:rPr lang="en-US" sz="2800" dirty="0">
                <a:ea typeface="+mj-lt"/>
                <a:cs typeface="+mj-lt"/>
              </a:rPr>
              <a:t> n°2 Top 5 </a:t>
            </a:r>
            <a:r>
              <a:rPr lang="en-US" sz="2800" dirty="0" err="1">
                <a:ea typeface="+mj-lt"/>
                <a:cs typeface="+mj-lt"/>
              </a:rPr>
              <a:t>annonces</a:t>
            </a:r>
            <a:r>
              <a:rPr lang="en-US" sz="2800" dirty="0">
                <a:ea typeface="+mj-lt"/>
                <a:cs typeface="+mj-lt"/>
              </a:rPr>
              <a:t> par </a:t>
            </a:r>
            <a:r>
              <a:rPr lang="en-US" sz="2800" dirty="0" err="1">
                <a:ea typeface="+mj-lt"/>
                <a:cs typeface="+mj-lt"/>
              </a:rPr>
              <a:t>nombre</a:t>
            </a:r>
            <a:r>
              <a:rPr lang="en-US" sz="2800" dirty="0">
                <a:ea typeface="+mj-lt"/>
                <a:cs typeface="+mj-lt"/>
              </a:rPr>
              <a:t> </a:t>
            </a:r>
            <a:r>
              <a:rPr lang="en-US" sz="2800" dirty="0" err="1">
                <a:ea typeface="+mj-lt"/>
                <a:cs typeface="+mj-lt"/>
              </a:rPr>
              <a:t>d’évaluations</a:t>
            </a:r>
            <a:endParaRPr lang="fr-FR"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76" y="2245550"/>
            <a:ext cx="7690672" cy="39266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 sz="2000" i="1">
                <a:ea typeface="+mn-lt"/>
                <a:cs typeface="+mn-lt"/>
              </a:rPr>
              <a:t>Ces annonces représentent les locations les plus actives sur la plateforme.</a:t>
            </a:r>
          </a:p>
          <a:p>
            <a:pPr marL="0" indent="0">
              <a:buNone/>
            </a:pPr>
            <a:endParaRPr lang="fr-FR" sz="2000" i="1"/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96B4E9AB-ED18-F8F2-9672-DFF613CE20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073385"/>
              </p:ext>
            </p:extLst>
          </p:nvPr>
        </p:nvGraphicFramePr>
        <p:xfrm>
          <a:off x="839491" y="3267559"/>
          <a:ext cx="7684540" cy="303584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842270">
                  <a:extLst>
                    <a:ext uri="{9D8B030D-6E8A-4147-A177-3AD203B41FA5}">
                      <a16:colId xmlns:a16="http://schemas.microsoft.com/office/drawing/2014/main" val="1307646826"/>
                    </a:ext>
                  </a:extLst>
                </a:gridCol>
                <a:gridCol w="3842270">
                  <a:extLst>
                    <a:ext uri="{9D8B030D-6E8A-4147-A177-3AD203B41FA5}">
                      <a16:colId xmlns:a16="http://schemas.microsoft.com/office/drawing/2014/main" val="1350622146"/>
                    </a:ext>
                  </a:extLst>
                </a:gridCol>
              </a:tblGrid>
              <a:tr h="422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Nom de l’annonce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Nombre d’évaluations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7607718"/>
                  </a:ext>
                </a:extLst>
              </a:tr>
              <a:tr h="62622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400" b="0" i="0" u="none" strike="noStrike" noProof="0">
                          <a:latin typeface="Avenir Next LT Pro"/>
                        </a:rPr>
                        <a:t>Sweet &amp; cosy room </a:t>
                      </a:r>
                      <a:r>
                        <a:rPr lang="fr-FR" sz="1400" b="0" i="0" u="none" strike="noStrike" noProof="0" err="1">
                          <a:latin typeface="Avenir Next LT Pro"/>
                        </a:rPr>
                        <a:t>next</a:t>
                      </a:r>
                      <a:r>
                        <a:rPr lang="fr-FR" sz="1400" b="0" i="0" u="none" strike="noStrike" noProof="0">
                          <a:latin typeface="Avenir Next LT Pro"/>
                        </a:rPr>
                        <a:t> to Canal Saint Martin ❤️</a:t>
                      </a:r>
                      <a:endParaRPr lang="fr-FR" sz="14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/>
                        <a:t>3067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181740"/>
                  </a:ext>
                </a:extLst>
              </a:tr>
              <a:tr h="62622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400" b="0" i="0" u="none" strike="noStrike" noProof="0">
                          <a:latin typeface="Avenir Next LT Pro"/>
                        </a:rPr>
                        <a:t>Double/</a:t>
                      </a:r>
                      <a:r>
                        <a:rPr lang="fr-FR" sz="1400" b="0" i="0" u="none" strike="noStrike" noProof="0" err="1">
                          <a:latin typeface="Avenir Next LT Pro"/>
                        </a:rPr>
                        <a:t>Twin</a:t>
                      </a:r>
                      <a:r>
                        <a:rPr lang="fr-FR" sz="1400" b="0" i="0" u="none" strike="noStrike" noProof="0">
                          <a:latin typeface="Avenir Next LT Pro"/>
                        </a:rPr>
                        <a:t> Room, close to Opera and the Louvre </a:t>
                      </a:r>
                      <a:r>
                        <a:rPr lang="fr-FR" sz="1400" b="0" i="0" u="none" strike="noStrike" noProof="0" err="1">
                          <a:latin typeface="Avenir Next LT Pro"/>
                        </a:rPr>
                        <a:t>with</a:t>
                      </a:r>
                      <a:r>
                        <a:rPr lang="fr-FR" sz="1400" b="0" i="0" u="none" strike="noStrike" noProof="0">
                          <a:latin typeface="Avenir Next LT Pro"/>
                        </a:rPr>
                        <a:t> breakfast </a:t>
                      </a:r>
                      <a:r>
                        <a:rPr lang="fr-FR" sz="1400" b="0" i="0" u="none" strike="noStrike" noProof="0" err="1">
                          <a:latin typeface="Avenir Next LT Pro"/>
                        </a:rPr>
                        <a:t>included</a:t>
                      </a:r>
                      <a:endParaRPr lang="fr-FR" sz="14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/>
                        <a:t>2620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6836527"/>
                  </a:ext>
                </a:extLst>
              </a:tr>
              <a:tr h="36756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400" b="0" i="0" u="none" strike="noStrike" noProof="0" err="1">
                          <a:latin typeface="Avenir Next LT Pro"/>
                        </a:rPr>
                        <a:t>Bed</a:t>
                      </a:r>
                      <a:r>
                        <a:rPr lang="fr-FR" sz="1400" b="0" i="0" u="none" strike="noStrike" noProof="0">
                          <a:latin typeface="Avenir Next LT Pro"/>
                        </a:rPr>
                        <a:t> in </a:t>
                      </a:r>
                      <a:r>
                        <a:rPr lang="fr-FR" sz="1400" b="0" i="0" u="none" strike="noStrike" noProof="0" err="1">
                          <a:latin typeface="Avenir Next LT Pro"/>
                        </a:rPr>
                        <a:t>Dorm</a:t>
                      </a:r>
                      <a:r>
                        <a:rPr lang="fr-FR" sz="1400" b="0" i="0" u="none" strike="noStrike" noProof="0">
                          <a:latin typeface="Avenir Next LT Pro"/>
                        </a:rPr>
                        <a:t> of 8 </a:t>
                      </a:r>
                      <a:r>
                        <a:rPr lang="fr-FR" sz="1400" b="0" i="0" u="none" strike="noStrike" noProof="0" err="1">
                          <a:latin typeface="Avenir Next LT Pro"/>
                        </a:rPr>
                        <a:t>Beds</a:t>
                      </a:r>
                      <a:r>
                        <a:rPr lang="fr-FR" sz="1400" b="0" i="0" u="none" strike="noStrike" noProof="0">
                          <a:latin typeface="Avenir Next LT Pro"/>
                        </a:rPr>
                        <a:t> "The Big One" in Paris</a:t>
                      </a:r>
                      <a:endParaRPr lang="fr-FR" sz="14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400" b="0" i="0" u="none" strike="noStrike" noProof="0">
                          <a:latin typeface="Avenir Next LT Pro"/>
                        </a:rPr>
                        <a:t>2294</a:t>
                      </a:r>
                      <a:endParaRPr lang="fr-FR" sz="14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626016"/>
                  </a:ext>
                </a:extLst>
              </a:tr>
              <a:tr h="62622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400" b="0" i="0" u="none" strike="noStrike" noProof="0" err="1">
                          <a:latin typeface="Avenir Next LT Pro"/>
                        </a:rPr>
                        <a:t>Comfortable</a:t>
                      </a:r>
                      <a:r>
                        <a:rPr lang="fr-FR" sz="1400" b="0" i="0" u="none" strike="noStrike" noProof="0">
                          <a:latin typeface="Avenir Next LT Pro"/>
                        </a:rPr>
                        <a:t> </a:t>
                      </a:r>
                      <a:r>
                        <a:rPr lang="fr-FR" sz="1400" b="0" i="0" u="none" strike="noStrike" noProof="0" err="1">
                          <a:latin typeface="Avenir Next LT Pro"/>
                        </a:rPr>
                        <a:t>bed</a:t>
                      </a:r>
                      <a:r>
                        <a:rPr lang="fr-FR" sz="1400" b="0" i="0" u="none" strike="noStrike" noProof="0">
                          <a:latin typeface="Avenir Next LT Pro"/>
                        </a:rPr>
                        <a:t> in </a:t>
                      </a:r>
                      <a:r>
                        <a:rPr lang="fr-FR" sz="1400" b="0" i="0" u="none" strike="noStrike" noProof="0" err="1">
                          <a:latin typeface="Avenir Next LT Pro"/>
                        </a:rPr>
                        <a:t>shared</a:t>
                      </a:r>
                      <a:r>
                        <a:rPr lang="fr-FR" sz="1400" b="0" i="0" u="none" strike="noStrike" noProof="0">
                          <a:latin typeface="Avenir Next LT Pro"/>
                        </a:rPr>
                        <a:t> </a:t>
                      </a:r>
                      <a:r>
                        <a:rPr lang="fr-FR" sz="1400" b="0" i="0" u="none" strike="noStrike" noProof="0" err="1">
                          <a:latin typeface="Avenir Next LT Pro"/>
                        </a:rPr>
                        <a:t>rooms</a:t>
                      </a:r>
                      <a:r>
                        <a:rPr lang="fr-FR" sz="1400" b="0" i="0" u="none" strike="noStrike" noProof="0">
                          <a:latin typeface="Avenir Next LT Pro"/>
                        </a:rPr>
                        <a:t> of 8 in Paris 12e</a:t>
                      </a:r>
                      <a:endParaRPr lang="fr-FR" sz="14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400" b="0" i="0" u="none" strike="noStrike" noProof="0">
                          <a:latin typeface="Avenir Next LT Pro"/>
                        </a:rPr>
                        <a:t>2105</a:t>
                      </a:r>
                      <a:endParaRPr lang="fr-FR" sz="14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5862764"/>
                  </a:ext>
                </a:extLst>
              </a:tr>
              <a:tr h="36756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400" b="0" i="0" u="none" strike="noStrike" noProof="0">
                          <a:latin typeface="Avenir Next LT Pro"/>
                        </a:rPr>
                        <a:t>Nice Room for 2 people</a:t>
                      </a:r>
                      <a:endParaRPr lang="fr-FR" sz="14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400" b="0" i="0" u="none" strike="noStrike" noProof="0">
                          <a:latin typeface="Avenir Next LT Pro"/>
                        </a:rPr>
                        <a:t>2048</a:t>
                      </a:r>
                      <a:endParaRPr lang="fr-FR" sz="14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18358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err="1">
                <a:ea typeface="+mj-lt"/>
                <a:cs typeface="+mj-lt"/>
              </a:rPr>
              <a:t>Requête</a:t>
            </a:r>
            <a:r>
              <a:rPr lang="en-US" sz="2800" dirty="0">
                <a:ea typeface="+mj-lt"/>
                <a:cs typeface="+mj-lt"/>
              </a:rPr>
              <a:t> n°3 Nombre total </a:t>
            </a:r>
            <a:r>
              <a:rPr lang="en-US" sz="2800" dirty="0" err="1">
                <a:ea typeface="+mj-lt"/>
                <a:cs typeface="+mj-lt"/>
              </a:rPr>
              <a:t>d’hôtes</a:t>
            </a:r>
            <a:r>
              <a:rPr lang="en-US" sz="2800" dirty="0">
                <a:ea typeface="+mj-lt"/>
                <a:cs typeface="+mj-lt"/>
              </a:rPr>
              <a:t> </a:t>
            </a:r>
            <a:r>
              <a:rPr lang="en-US" sz="2800" dirty="0" err="1">
                <a:ea typeface="+mj-lt"/>
                <a:cs typeface="+mj-lt"/>
              </a:rPr>
              <a:t>différents</a:t>
            </a:r>
            <a:endParaRPr lang="fr-FR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 sz="2000" i="1">
                <a:ea typeface="+mn-lt"/>
                <a:cs typeface="+mn-lt"/>
              </a:rPr>
              <a:t>Chaque hôte correspond à un utilisateur unique, ce qui permet de mesurer la diversité des hébergeurs sur la plateforme.</a:t>
            </a:r>
          </a:p>
          <a:p>
            <a:pPr marL="0" indent="0">
              <a:buNone/>
            </a:pPr>
            <a:endParaRPr lang="fr-FR" sz="2000" i="1"/>
          </a:p>
          <a:p>
            <a:pPr marL="0" indent="0">
              <a:buNone/>
            </a:pPr>
            <a:endParaRPr lang="fr-FR" sz="2000" i="1"/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75BAC302-BB33-D606-D821-134748498B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166656"/>
              </p:ext>
            </p:extLst>
          </p:nvPr>
        </p:nvGraphicFramePr>
        <p:xfrm>
          <a:off x="762001" y="3605681"/>
          <a:ext cx="7619998" cy="731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809999">
                  <a:extLst>
                    <a:ext uri="{9D8B030D-6E8A-4147-A177-3AD203B41FA5}">
                      <a16:colId xmlns:a16="http://schemas.microsoft.com/office/drawing/2014/main" val="1939426854"/>
                    </a:ext>
                  </a:extLst>
                </a:gridCol>
                <a:gridCol w="3809999">
                  <a:extLst>
                    <a:ext uri="{9D8B030D-6E8A-4147-A177-3AD203B41FA5}">
                      <a16:colId xmlns:a16="http://schemas.microsoft.com/office/drawing/2014/main" val="916735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Indicateur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Valeur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496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Hôtes différents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71 979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031997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err="1">
                <a:ea typeface="+mj-lt"/>
                <a:cs typeface="+mj-lt"/>
              </a:rPr>
              <a:t>Requête</a:t>
            </a:r>
            <a:r>
              <a:rPr lang="en-US" sz="2800" dirty="0">
                <a:ea typeface="+mj-lt"/>
                <a:cs typeface="+mj-lt"/>
              </a:rPr>
              <a:t> n°4 </a:t>
            </a:r>
            <a:r>
              <a:rPr lang="fr-FR" sz="2800" dirty="0">
                <a:ea typeface="+mj-lt"/>
                <a:cs typeface="+mj-lt"/>
              </a:rPr>
              <a:t>Locations réservables instantanément</a:t>
            </a:r>
            <a:endParaRPr lang="fr-FR"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 sz="2000" i="1">
                <a:ea typeface="+mn-lt"/>
                <a:cs typeface="+mn-lt"/>
              </a:rPr>
              <a:t>Un quart des annonces sont immédiatement réservables, simplifiant la réservation pour les voyageurs pressés.</a:t>
            </a:r>
            <a:endParaRPr lang="fr-FR" sz="2000"/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5130DC9D-8DAE-570E-E24C-4D85298BF5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498671"/>
              </p:ext>
            </p:extLst>
          </p:nvPr>
        </p:nvGraphicFramePr>
        <p:xfrm>
          <a:off x="777959" y="3778004"/>
          <a:ext cx="7594168" cy="10972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97084">
                  <a:extLst>
                    <a:ext uri="{9D8B030D-6E8A-4147-A177-3AD203B41FA5}">
                      <a16:colId xmlns:a16="http://schemas.microsoft.com/office/drawing/2014/main" val="2928386781"/>
                    </a:ext>
                  </a:extLst>
                </a:gridCol>
                <a:gridCol w="3797084">
                  <a:extLst>
                    <a:ext uri="{9D8B030D-6E8A-4147-A177-3AD203B41FA5}">
                      <a16:colId xmlns:a16="http://schemas.microsoft.com/office/drawing/2014/main" val="36170803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Indicateur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Valeur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5768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Annonces instant bookable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22 094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2126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Proportion des annonces totales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23 %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09347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C27958-9A70-5332-90C4-A4B434340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err="1">
                <a:ea typeface="+mj-lt"/>
                <a:cs typeface="+mj-lt"/>
              </a:rPr>
              <a:t>Requête</a:t>
            </a:r>
            <a:r>
              <a:rPr lang="en-US" sz="2800" dirty="0">
                <a:ea typeface="+mj-lt"/>
                <a:cs typeface="+mj-lt"/>
              </a:rPr>
              <a:t> n°5 </a:t>
            </a:r>
            <a:r>
              <a:rPr lang="fr-FR" sz="2800" dirty="0">
                <a:ea typeface="+mj-lt"/>
                <a:cs typeface="+mj-lt"/>
              </a:rPr>
              <a:t>Hôtes avec plus de 100 annonces</a:t>
            </a:r>
            <a:endParaRPr lang="fr-FR" sz="28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FF1303-B34B-ACB7-A22F-7E53388A3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2250621"/>
            <a:ext cx="7434599" cy="116880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fr-FR" sz="2000" i="1">
                <a:ea typeface="+mn-lt"/>
                <a:cs typeface="+mn-lt"/>
              </a:rPr>
              <a:t>Certains hôtes possèdent </a:t>
            </a:r>
            <a:r>
              <a:rPr lang="fr-FR" sz="2000" b="1" i="1">
                <a:ea typeface="+mn-lt"/>
                <a:cs typeface="+mn-lt"/>
              </a:rPr>
              <a:t>plus de 100 annonces</a:t>
            </a:r>
            <a:r>
              <a:rPr lang="fr-FR" sz="2000" i="1">
                <a:ea typeface="+mn-lt"/>
                <a:cs typeface="+mn-lt"/>
              </a:rPr>
              <a:t> sur la plateforme.</a:t>
            </a:r>
            <a:endParaRPr lang="fr-FR" sz="2000" i="1"/>
          </a:p>
          <a:p>
            <a:pPr marL="0" indent="0">
              <a:buNone/>
            </a:pPr>
            <a:r>
              <a:rPr lang="fr-FR" sz="2000">
                <a:ea typeface="+mn-lt"/>
                <a:cs typeface="+mn-lt"/>
              </a:rPr>
              <a:t>Exemple de quelques hôtes de plus de 100 annonces :</a:t>
            </a:r>
            <a:endParaRPr lang="fr-FR" sz="2000"/>
          </a:p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D2D7945-0C33-B061-7A8A-51FC3A30E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A46B6-69EF-4194-AF73-F520DF0B88CB}" type="datetime1">
              <a:t>06/01/2026</a:t>
            </a:fld>
            <a:endParaRPr lang="en-US"/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F329EFAE-0203-56F4-77B4-889BBCEE49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959490"/>
              </p:ext>
            </p:extLst>
          </p:nvPr>
        </p:nvGraphicFramePr>
        <p:xfrm>
          <a:off x="682210" y="3516610"/>
          <a:ext cx="7594168" cy="21945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97084">
                  <a:extLst>
                    <a:ext uri="{9D8B030D-6E8A-4147-A177-3AD203B41FA5}">
                      <a16:colId xmlns:a16="http://schemas.microsoft.com/office/drawing/2014/main" val="1083109213"/>
                    </a:ext>
                  </a:extLst>
                </a:gridCol>
                <a:gridCol w="3797084">
                  <a:extLst>
                    <a:ext uri="{9D8B030D-6E8A-4147-A177-3AD203B41FA5}">
                      <a16:colId xmlns:a16="http://schemas.microsoft.com/office/drawing/2014/main" val="17628461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Host ID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Nombre d’annonces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3407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314 994 947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730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1582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33 889 201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497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4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50 502 817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426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154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50 978 178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307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764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26 981 054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274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0209822"/>
                  </a:ext>
                </a:extLst>
              </a:tr>
            </a:tbl>
          </a:graphicData>
        </a:graphic>
      </p:graphicFrame>
      <p:sp>
        <p:nvSpPr>
          <p:cNvPr id="9" name="ZoneTexte 8">
            <a:extLst>
              <a:ext uri="{FF2B5EF4-FFF2-40B4-BE49-F238E27FC236}">
                <a16:creationId xmlns:a16="http://schemas.microsoft.com/office/drawing/2014/main" id="{D3DB9DC7-D51F-7E08-999D-B52362E7C0C8}"/>
              </a:ext>
            </a:extLst>
          </p:cNvPr>
          <p:cNvSpPr txBox="1"/>
          <p:nvPr/>
        </p:nvSpPr>
        <p:spPr>
          <a:xfrm>
            <a:off x="646304" y="5810749"/>
            <a:ext cx="582870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Cela représente </a:t>
            </a:r>
            <a:r>
              <a:rPr lang="en-US" b="1"/>
              <a:t>0,03 %</a:t>
            </a:r>
            <a:r>
              <a:rPr lang="en-US"/>
              <a:t> du total des </a:t>
            </a:r>
            <a:r>
              <a:rPr lang="en-US" err="1"/>
              <a:t>hôtes</a:t>
            </a:r>
            <a:endParaRPr lang="fr-FR" err="1"/>
          </a:p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9875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F951F4-FD6E-FD1D-4C39-24C758EDE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err="1">
                <a:ea typeface="+mj-lt"/>
                <a:cs typeface="+mj-lt"/>
              </a:rPr>
              <a:t>Requête</a:t>
            </a:r>
            <a:r>
              <a:rPr lang="en-US" sz="2800" dirty="0">
                <a:ea typeface="+mj-lt"/>
                <a:cs typeface="+mj-lt"/>
              </a:rPr>
              <a:t> avec polars : l</a:t>
            </a:r>
            <a:r>
              <a:rPr lang="fr-FR" sz="2800" dirty="0">
                <a:ea typeface="+mj-lt"/>
                <a:cs typeface="+mj-lt"/>
              </a:rPr>
              <a:t>es super hôtes</a:t>
            </a:r>
            <a:endParaRPr lang="fr-FR" sz="28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0ACDA3-EFFC-4C15-EC10-87B7C9645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 sz="2000" i="1">
                <a:ea typeface="+mn-lt"/>
                <a:cs typeface="+mn-lt"/>
              </a:rPr>
              <a:t>Les super-hôtes représentent une fraction importante des hôtes et garantissent une qualité de service reconnue.</a:t>
            </a:r>
            <a:endParaRPr lang="fr-FR" sz="2000" i="1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DA1634F-F8E2-B19C-1B68-DF92ECD88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B85B5-4734-44C6-B097-E79A25EDE6A0}" type="datetime1">
              <a:t>06/01/2026</a:t>
            </a:fld>
            <a:endParaRPr lang="en-US"/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21275527-782E-D36F-1EE8-838D4183AD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753814"/>
              </p:ext>
            </p:extLst>
          </p:nvPr>
        </p:nvGraphicFramePr>
        <p:xfrm>
          <a:off x="1400324" y="3646350"/>
          <a:ext cx="6354304" cy="10972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177152">
                  <a:extLst>
                    <a:ext uri="{9D8B030D-6E8A-4147-A177-3AD203B41FA5}">
                      <a16:colId xmlns:a16="http://schemas.microsoft.com/office/drawing/2014/main" val="916709986"/>
                    </a:ext>
                  </a:extLst>
                </a:gridCol>
                <a:gridCol w="3177152">
                  <a:extLst>
                    <a:ext uri="{9D8B030D-6E8A-4147-A177-3AD203B41FA5}">
                      <a16:colId xmlns:a16="http://schemas.microsoft.com/office/drawing/2014/main" val="13534823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Indicateur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Valeur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749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Nombre de super-hôtes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10 027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79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Proportion des hôtes totaux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14 %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949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7492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BCBC63-F8FC-F91A-FAB0-0B5FDB5EE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err="1">
                <a:ea typeface="+mj-lt"/>
                <a:cs typeface="+mj-lt"/>
              </a:rPr>
              <a:t>Requête</a:t>
            </a:r>
            <a:r>
              <a:rPr lang="en-US" sz="2800" dirty="0">
                <a:ea typeface="+mj-lt"/>
                <a:cs typeface="+mj-lt"/>
              </a:rPr>
              <a:t> avec polars : </a:t>
            </a:r>
            <a:r>
              <a:rPr lang="fr-FR" sz="2800" dirty="0">
                <a:ea typeface="+mj-lt"/>
                <a:cs typeface="+mj-lt"/>
              </a:rPr>
              <a:t>Taux de réservation moyen par mois par type de logement</a:t>
            </a:r>
            <a:endParaRPr lang="fr-FR" sz="28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DD05E2-E300-4A5B-8979-596EF1163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2478024"/>
            <a:ext cx="7626096" cy="94140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 sz="2000" i="1">
                <a:ea typeface="+mn-lt"/>
                <a:cs typeface="+mn-lt"/>
              </a:rPr>
              <a:t>Cette analyse permet de comprendre quels types de logements sont les plus réservés à Paris.</a:t>
            </a:r>
            <a:endParaRPr lang="fr-FR" sz="2000" i="1"/>
          </a:p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E4687A-9D80-2FC6-5460-5D2713DEA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FAE2B-A909-4947-82F3-243CEFB14B3E}" type="datetime1">
              <a:t>06/01/2026</a:t>
            </a:fld>
            <a:endParaRPr lang="en-US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0EE8B41C-5AD7-D023-73A8-B48731D055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142003"/>
              </p:ext>
            </p:extLst>
          </p:nvPr>
        </p:nvGraphicFramePr>
        <p:xfrm>
          <a:off x="658273" y="3747365"/>
          <a:ext cx="7800776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900388">
                  <a:extLst>
                    <a:ext uri="{9D8B030D-6E8A-4147-A177-3AD203B41FA5}">
                      <a16:colId xmlns:a16="http://schemas.microsoft.com/office/drawing/2014/main" val="708752398"/>
                    </a:ext>
                  </a:extLst>
                </a:gridCol>
                <a:gridCol w="3900388">
                  <a:extLst>
                    <a:ext uri="{9D8B030D-6E8A-4147-A177-3AD203B41FA5}">
                      <a16:colId xmlns:a16="http://schemas.microsoft.com/office/drawing/2014/main" val="15322966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Type de logement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Taux de réservation moyen (%)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0982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err="1"/>
                        <a:t>Entire</a:t>
                      </a:r>
                      <a:r>
                        <a:rPr lang="fr-FR"/>
                        <a:t> home / </a:t>
                      </a:r>
                      <a:r>
                        <a:rPr lang="fr-FR" err="1"/>
                        <a:t>apt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71,29 %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9946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err="1"/>
                        <a:t>Private</a:t>
                      </a:r>
                      <a:r>
                        <a:rPr lang="fr-FR"/>
                        <a:t> room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70,29 %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6902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err="1"/>
                        <a:t>Shared</a:t>
                      </a:r>
                      <a:r>
                        <a:rPr lang="fr-FR"/>
                        <a:t> room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60,72 %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0844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err="1"/>
                        <a:t>Hotel</a:t>
                      </a:r>
                      <a:r>
                        <a:rPr lang="fr-FR"/>
                        <a:t> room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53,53 %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242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5876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7C53CE-AE88-17B1-9121-4AFB033D1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err="1">
                <a:ea typeface="+mj-lt"/>
                <a:cs typeface="+mj-lt"/>
              </a:rPr>
              <a:t>Requête</a:t>
            </a:r>
            <a:r>
              <a:rPr lang="en-US" sz="2800" dirty="0">
                <a:ea typeface="+mj-lt"/>
                <a:cs typeface="+mj-lt"/>
              </a:rPr>
              <a:t> avec polars :</a:t>
            </a:r>
            <a:r>
              <a:rPr lang="fr-FR" sz="2800" dirty="0">
                <a:ea typeface="+mj-lt"/>
                <a:cs typeface="+mj-lt"/>
              </a:rPr>
              <a:t>Médiane du nombre d’avis (tous logements)</a:t>
            </a:r>
            <a:endParaRPr lang="fr-FR" sz="28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9D68191-EBEC-E994-9098-30DED3543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2478024"/>
            <a:ext cx="7626096" cy="8336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 sz="2000" i="1">
                <a:ea typeface="+mn-lt"/>
                <a:cs typeface="+mn-lt"/>
              </a:rPr>
              <a:t>La médiane permet d’éviter l’influence des logements très atypiques avec un grand nombre d’avis.</a:t>
            </a:r>
            <a:endParaRPr lang="fr-FR" sz="2000" i="1"/>
          </a:p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5BD9979-B41B-9D43-C0BC-8C29063DA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E2941-05D0-4475-88CE-82B8AA541576}" type="datetime1">
              <a:t>06/01/2026</a:t>
            </a:fld>
            <a:endParaRPr lang="en-US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467D86F7-F969-26DA-43EE-EC65D44C14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552331"/>
              </p:ext>
            </p:extLst>
          </p:nvPr>
        </p:nvGraphicFramePr>
        <p:xfrm>
          <a:off x="1101109" y="3626481"/>
          <a:ext cx="6819282" cy="1005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409641">
                  <a:extLst>
                    <a:ext uri="{9D8B030D-6E8A-4147-A177-3AD203B41FA5}">
                      <a16:colId xmlns:a16="http://schemas.microsoft.com/office/drawing/2014/main" val="380645812"/>
                    </a:ext>
                  </a:extLst>
                </a:gridCol>
                <a:gridCol w="3409641">
                  <a:extLst>
                    <a:ext uri="{9D8B030D-6E8A-4147-A177-3AD203B41FA5}">
                      <a16:colId xmlns:a16="http://schemas.microsoft.com/office/drawing/2014/main" val="20118901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Indicateur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Valeur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494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Médiane du nombre d’avis par logement 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3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453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9423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CCA236-BE16-E053-5108-305AAAC19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err="1">
                <a:ea typeface="+mj-lt"/>
                <a:cs typeface="+mj-lt"/>
              </a:rPr>
              <a:t>Requête</a:t>
            </a:r>
            <a:r>
              <a:rPr lang="en-US" sz="2800" dirty="0">
                <a:ea typeface="+mj-lt"/>
                <a:cs typeface="+mj-lt"/>
              </a:rPr>
              <a:t> avec polars : </a:t>
            </a:r>
            <a:r>
              <a:rPr lang="fr-FR" sz="2800" dirty="0">
                <a:ea typeface="+mj-lt"/>
                <a:cs typeface="+mj-lt"/>
              </a:rPr>
              <a:t>Médiane du nombre d’avis par type d’hôte</a:t>
            </a:r>
            <a:endParaRPr lang="fr-FR" sz="280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AD9B7E-6121-F60F-114B-B8AE3FC15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2478024"/>
            <a:ext cx="7626096" cy="107305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 i="1">
                <a:ea typeface="+mn-lt"/>
                <a:cs typeface="+mn-lt"/>
              </a:rPr>
              <a:t>Cette analyse compare la visibilité des super hôtes par rapport aux autres hôtes.</a:t>
            </a:r>
            <a:endParaRPr lang="fr-FR" i="1"/>
          </a:p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881C7A-B019-06FD-33B2-1004CCE15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C522E-3CC1-4608-BA0E-2AA79074E525}" type="datetime1">
              <a:t>06/01/2026</a:t>
            </a:fld>
            <a:endParaRPr lang="en-US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79D801E3-3998-5C40-7A9C-C4398FC234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4967521"/>
              </p:ext>
            </p:extLst>
          </p:nvPr>
        </p:nvGraphicFramePr>
        <p:xfrm>
          <a:off x="897644" y="4129162"/>
          <a:ext cx="7348750" cy="1463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74375">
                  <a:extLst>
                    <a:ext uri="{9D8B030D-6E8A-4147-A177-3AD203B41FA5}">
                      <a16:colId xmlns:a16="http://schemas.microsoft.com/office/drawing/2014/main" val="1943893500"/>
                    </a:ext>
                  </a:extLst>
                </a:gridCol>
                <a:gridCol w="3674375">
                  <a:extLst>
                    <a:ext uri="{9D8B030D-6E8A-4147-A177-3AD203B41FA5}">
                      <a16:colId xmlns:a16="http://schemas.microsoft.com/office/drawing/2014/main" val="42864073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Statut de l’hôte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Médiane du nombre d’avis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2095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Super hôte (t)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>
                          <a:solidFill>
                            <a:srgbClr val="000000"/>
                          </a:solidFill>
                          <a:latin typeface="Helvetica Neue"/>
                        </a:rPr>
                        <a:t>24.0</a:t>
                      </a:r>
                      <a:endParaRPr lang="fr-FR" sz="18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2012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err="1"/>
                        <a:t>Null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>
                          <a:solidFill>
                            <a:srgbClr val="000000"/>
                          </a:solidFill>
                          <a:latin typeface="Helvetica Neue"/>
                        </a:rPr>
                        <a:t>12.5</a:t>
                      </a:r>
                      <a:endParaRPr lang="fr-FR" sz="18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9256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Non super hôte (f)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>
                          <a:solidFill>
                            <a:srgbClr val="000000"/>
                          </a:solidFill>
                          <a:latin typeface="Helvetica Neue"/>
                        </a:rPr>
                        <a:t>2.0</a:t>
                      </a:r>
                      <a:endParaRPr lang="fr-FR" sz="18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859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4988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05CB07-75CE-4A17-4B11-5BE22508E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err="1">
                <a:ea typeface="+mj-lt"/>
                <a:cs typeface="+mj-lt"/>
              </a:rPr>
              <a:t>Requête</a:t>
            </a:r>
            <a:r>
              <a:rPr lang="en-US" sz="2800" dirty="0">
                <a:ea typeface="+mj-lt"/>
                <a:cs typeface="+mj-lt"/>
              </a:rPr>
              <a:t> avec polars : </a:t>
            </a:r>
            <a:r>
              <a:rPr lang="fr-FR" sz="2800" dirty="0">
                <a:ea typeface="+mj-lt"/>
                <a:cs typeface="+mj-lt"/>
              </a:rPr>
              <a:t>Densité de logements par quartier</a:t>
            </a:r>
            <a:endParaRPr lang="fr-FR" sz="280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D01C87-BD0D-7F14-FBDC-F2267AF5F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2478024"/>
            <a:ext cx="7626096" cy="7977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 sz="2000" i="1">
                <a:ea typeface="+mn-lt"/>
                <a:cs typeface="+mn-lt"/>
              </a:rPr>
              <a:t>Cette analyse permet d’identifier les zones les plus impactées par la location.</a:t>
            </a:r>
            <a:endParaRPr lang="fr-FR" sz="2000" i="1"/>
          </a:p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B80BFB-15B3-B268-5A24-7682C8E8D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210E3-F988-43A2-A926-8F5099EB2BAB}" type="datetime1">
              <a:t>06/01/2026</a:t>
            </a:fld>
            <a:endParaRPr lang="en-US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F0EDECED-D7BF-501A-37DB-70E7180498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894393"/>
              </p:ext>
            </p:extLst>
          </p:nvPr>
        </p:nvGraphicFramePr>
        <p:xfrm>
          <a:off x="897644" y="3672201"/>
          <a:ext cx="7348778" cy="21945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74389">
                  <a:extLst>
                    <a:ext uri="{9D8B030D-6E8A-4147-A177-3AD203B41FA5}">
                      <a16:colId xmlns:a16="http://schemas.microsoft.com/office/drawing/2014/main" val="1709878685"/>
                    </a:ext>
                  </a:extLst>
                </a:gridCol>
                <a:gridCol w="3674389">
                  <a:extLst>
                    <a:ext uri="{9D8B030D-6E8A-4147-A177-3AD203B41FA5}">
                      <a16:colId xmlns:a16="http://schemas.microsoft.com/office/drawing/2014/main" val="39728886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Quartier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Nombre de logements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6449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Buttes-Montmartre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10 555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176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Popincourt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8 430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3974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Vaugirard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7 802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440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Batignolles-Monceau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6 857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0996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Entrepôt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6 558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5583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90266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8EDBEF-9BAF-3367-231C-C764879CD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err="1">
                <a:ea typeface="+mj-lt"/>
                <a:cs typeface="+mj-lt"/>
              </a:rPr>
              <a:t>Requête</a:t>
            </a:r>
            <a:r>
              <a:rPr lang="en-US" sz="2800" dirty="0">
                <a:ea typeface="+mj-lt"/>
                <a:cs typeface="+mj-lt"/>
              </a:rPr>
              <a:t> avec polars : </a:t>
            </a:r>
            <a:r>
              <a:rPr lang="fr-FR" sz="2800" dirty="0">
                <a:ea typeface="+mj-lt"/>
                <a:cs typeface="+mj-lt"/>
              </a:rPr>
              <a:t>Quartiers avec le plus fort taux de réservation mensuel</a:t>
            </a:r>
            <a:endParaRPr lang="fr-FR" sz="28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7A75B8-8A28-886C-BB1E-1F4C45674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2478024"/>
            <a:ext cx="7626096" cy="8217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 sz="2000" i="1">
                <a:ea typeface="+mn-lt"/>
                <a:cs typeface="+mn-lt"/>
              </a:rPr>
              <a:t>Tous les quartiers de Paris ne sont pas exposés de la même manière à la pression des locations.</a:t>
            </a:r>
            <a:endParaRPr lang="fr-FR" sz="2000" i="1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FFB5A9-66F7-61C7-5CB2-9FC64D3DE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EB1EF-FBE1-4234-B0FD-D64276E44AF8}" type="datetime1">
              <a:t>06/01/2026</a:t>
            </a:fld>
            <a:endParaRPr lang="en-US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B0843254-04D6-C908-B0CB-C39E4948F8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796009"/>
              </p:ext>
            </p:extLst>
          </p:nvPr>
        </p:nvGraphicFramePr>
        <p:xfrm>
          <a:off x="1017329" y="3434984"/>
          <a:ext cx="7109823" cy="2468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551694">
                  <a:extLst>
                    <a:ext uri="{9D8B030D-6E8A-4147-A177-3AD203B41FA5}">
                      <a16:colId xmlns:a16="http://schemas.microsoft.com/office/drawing/2014/main" val="2559854139"/>
                    </a:ext>
                  </a:extLst>
                </a:gridCol>
                <a:gridCol w="3558129">
                  <a:extLst>
                    <a:ext uri="{9D8B030D-6E8A-4147-A177-3AD203B41FA5}">
                      <a16:colId xmlns:a16="http://schemas.microsoft.com/office/drawing/2014/main" val="10855302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Quartier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Taux de réservation mensuel moyen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6345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0"/>
                        <a:t>Ménilmontant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0"/>
                        <a:t>75,4 %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6105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0"/>
                        <a:t>Entrepôt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0"/>
                        <a:t>74,8 %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896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0"/>
                        <a:t>Popincourt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0"/>
                        <a:t>74,8 %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6801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0"/>
                        <a:t>Buttes-Chaumont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0"/>
                        <a:t>74,1 %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0660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0"/>
                        <a:t>Panthéon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0"/>
                        <a:t>73,1 %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6938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2572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CCA1A4-7180-CDC8-A105-8B3895A02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dirty="0">
                <a:ea typeface="+mj-lt"/>
                <a:cs typeface="+mj-lt"/>
              </a:rPr>
              <a:t>Connexion de Tableau desktop à la base de données MongoDB</a:t>
            </a:r>
            <a:endParaRPr lang="fr-FR" dirty="0"/>
          </a:p>
        </p:txBody>
      </p:sp>
      <p:pic>
        <p:nvPicPr>
          <p:cNvPr id="5" name="Espace réservé du contenu 4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DAA2CB96-5AA0-2497-EAA4-A849682E82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8925" y="2908893"/>
            <a:ext cx="7613723" cy="3718113"/>
          </a:xfrm>
          <a:prstGeom prst="rect">
            <a:avLst/>
          </a:prstGeom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C83B7DB-0DCB-F6F5-EF37-7D91E942D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F2EB9-8AEA-4D50-AA5B-29FABBC603C7}" type="datetime1">
              <a:t>06/01/2026</a:t>
            </a:fld>
            <a:endParaRPr lang="en-US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1B1E7CF-CADE-E97D-84D7-D1956A2ABB51}"/>
              </a:ext>
            </a:extLst>
          </p:cNvPr>
          <p:cNvSpPr txBox="1"/>
          <p:nvPr/>
        </p:nvSpPr>
        <p:spPr>
          <a:xfrm>
            <a:off x="820080" y="2163932"/>
            <a:ext cx="743615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600" dirty="0">
                <a:ea typeface="+mn-lt"/>
                <a:cs typeface="+mn-lt"/>
              </a:rPr>
              <a:t>Cette visualisation illustre l’intégration de Tableau Public avec une base NoSQL MongoDB pour l’analyse et l’exploitation des données.</a:t>
            </a:r>
            <a:endParaRPr lang="fr-FR" sz="1600"/>
          </a:p>
        </p:txBody>
      </p:sp>
    </p:spTree>
    <p:extLst>
      <p:ext uri="{BB962C8B-B14F-4D97-AF65-F5344CB8AC3E}">
        <p14:creationId xmlns:p14="http://schemas.microsoft.com/office/powerpoint/2010/main" val="2882281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6F06B0-2593-FBC6-EF1E-C520A0DD8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dirty="0">
                <a:ea typeface="+mj-lt"/>
                <a:cs typeface="+mj-lt"/>
              </a:rPr>
              <a:t>Exploration des données par des graphiques Tableau desktop</a:t>
            </a:r>
            <a:endParaRPr lang="fr-FR" sz="280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4C01D97-ECF7-CF38-C228-DEDBAE30F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956AC-CE03-4205-BDD9-C30DEF1067A0}" type="datetime1">
              <a:t>06/01/2026</a:t>
            </a:fld>
            <a:endParaRPr lang="en-US"/>
          </a:p>
        </p:txBody>
      </p:sp>
      <p:pic>
        <p:nvPicPr>
          <p:cNvPr id="9" name="Espace réservé du contenu 8" descr="Une image contenant texte, capture d’écran, affichage, logiciel&#10;&#10;Le contenu généré par l’IA peut être incorrect.">
            <a:extLst>
              <a:ext uri="{FF2B5EF4-FFF2-40B4-BE49-F238E27FC236}">
                <a16:creationId xmlns:a16="http://schemas.microsoft.com/office/drawing/2014/main" id="{89BA98D3-2836-7B64-0BB6-63054CA9D0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6542" y="2837082"/>
            <a:ext cx="3221925" cy="3406930"/>
          </a:xfrm>
          <a:prstGeom prst="rect">
            <a:avLst/>
          </a:prstGeom>
        </p:spPr>
      </p:pic>
      <p:pic>
        <p:nvPicPr>
          <p:cNvPr id="10" name="Image 9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1B468A7F-3338-57A8-7B93-DE0A9EE65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205" y="2838276"/>
            <a:ext cx="3513977" cy="3407607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2B733943-976C-193A-B951-1821EA54AAFF}"/>
              </a:ext>
            </a:extLst>
          </p:cNvPr>
          <p:cNvSpPr txBox="1"/>
          <p:nvPr/>
        </p:nvSpPr>
        <p:spPr>
          <a:xfrm>
            <a:off x="848761" y="2206781"/>
            <a:ext cx="671088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600" i="1" dirty="0">
                <a:ea typeface="+mn-lt"/>
                <a:cs typeface="+mn-lt"/>
              </a:rPr>
              <a:t>Ces visualisations permettent de découvrir les tendances clés dans l’offre locative et l’activité de réservation.</a:t>
            </a:r>
            <a:endParaRPr lang="fr-FR" sz="1600" i="1" dirty="0"/>
          </a:p>
        </p:txBody>
      </p:sp>
    </p:spTree>
    <p:extLst>
      <p:ext uri="{BB962C8B-B14F-4D97-AF65-F5344CB8AC3E}">
        <p14:creationId xmlns:p14="http://schemas.microsoft.com/office/powerpoint/2010/main" val="20159774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C6EBFD-FB7C-D1B2-7062-75C642228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dirty="0">
                <a:ea typeface="+mj-lt"/>
                <a:cs typeface="+mj-lt"/>
              </a:rPr>
              <a:t>Importation et centralisation des données</a:t>
            </a:r>
            <a:endParaRPr lang="fr-FR" sz="28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F3A2AA-F717-7419-E798-A4F493526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461" y="2430150"/>
            <a:ext cx="3808117" cy="36941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 sz="1400" b="1" i="1" dirty="0">
                <a:ea typeface="+mn-lt"/>
                <a:cs typeface="+mn-lt"/>
              </a:rPr>
              <a:t>Objectif :</a:t>
            </a:r>
            <a:r>
              <a:rPr lang="fr-FR" sz="1400" i="1" dirty="0">
                <a:ea typeface="+mn-lt"/>
                <a:cs typeface="+mn-lt"/>
              </a:rPr>
              <a:t> Centraliser les données de Paris et Lyon dans une seule collection.</a:t>
            </a:r>
          </a:p>
          <a:p>
            <a:pPr marL="0" indent="0">
              <a:buNone/>
            </a:pPr>
            <a:r>
              <a:rPr lang="fr-FR" sz="1400" b="1" dirty="0">
                <a:ea typeface="+mn-lt"/>
                <a:cs typeface="+mn-lt"/>
              </a:rPr>
              <a:t>Actions réalisées :</a:t>
            </a:r>
            <a:endParaRPr lang="fr-FR" sz="1400" dirty="0"/>
          </a:p>
          <a:p>
            <a:pPr>
              <a:buFont typeface="Arial"/>
              <a:buChar char="•"/>
            </a:pPr>
            <a:r>
              <a:rPr lang="fr-FR" sz="1400" dirty="0">
                <a:ea typeface="+mn-lt"/>
                <a:cs typeface="+mn-lt"/>
              </a:rPr>
              <a:t>Téléchargement des données des logements sur Lyon.</a:t>
            </a:r>
            <a:endParaRPr lang="fr-FR" sz="1400" dirty="0"/>
          </a:p>
          <a:p>
            <a:pPr>
              <a:buFont typeface="Arial"/>
              <a:buChar char="•"/>
            </a:pPr>
            <a:r>
              <a:rPr lang="fr-FR" sz="1400" dirty="0">
                <a:ea typeface="+mn-lt"/>
                <a:cs typeface="+mn-lt"/>
              </a:rPr>
              <a:t>Ajout d’un paramètre </a:t>
            </a:r>
            <a:r>
              <a:rPr lang="fr-FR" sz="1400" dirty="0">
                <a:latin typeface="Consolas"/>
              </a:rPr>
              <a:t>"city"</a:t>
            </a:r>
            <a:r>
              <a:rPr lang="fr-FR" sz="1400" dirty="0">
                <a:ea typeface="+mn-lt"/>
                <a:cs typeface="+mn-lt"/>
              </a:rPr>
              <a:t> pour distinguer Paris / Lyon.</a:t>
            </a:r>
            <a:endParaRPr lang="fr-FR" sz="1400"/>
          </a:p>
          <a:p>
            <a:pPr>
              <a:buFont typeface="Arial"/>
              <a:buChar char="•"/>
            </a:pPr>
            <a:r>
              <a:rPr lang="fr-FR" sz="1400" dirty="0">
                <a:ea typeface="+mn-lt"/>
                <a:cs typeface="+mn-lt"/>
              </a:rPr>
              <a:t>Import des données via  MongoDB Compass.</a:t>
            </a:r>
            <a:endParaRPr lang="fr-FR" sz="1400"/>
          </a:p>
          <a:p>
            <a:pPr marL="0" indent="0">
              <a:buNone/>
            </a:pPr>
            <a:r>
              <a:rPr lang="fr-FR" sz="1400" b="1" dirty="0">
                <a:ea typeface="+mn-lt"/>
                <a:cs typeface="+mn-lt"/>
              </a:rPr>
              <a:t>Résultat :</a:t>
            </a:r>
            <a:r>
              <a:rPr lang="fr-FR" sz="1400" dirty="0">
                <a:ea typeface="+mn-lt"/>
                <a:cs typeface="+mn-lt"/>
              </a:rPr>
              <a:t> Une collection unique contenant toutes les locations, prête pour la réplication.</a:t>
            </a:r>
            <a:endParaRPr lang="fr-FR" sz="1400" dirty="0"/>
          </a:p>
          <a:p>
            <a:pPr marL="0" indent="0">
              <a:buNone/>
            </a:pPr>
            <a:endParaRPr lang="fr-FR" sz="1600" i="1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3852A4F-2777-A3FD-97E5-7D142B4E1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CC58C-1832-48ED-9A4B-244EC52E92AA}" type="datetime1">
              <a:t>06/01/2026</a:t>
            </a:fld>
            <a:endParaRPr lang="en-US"/>
          </a:p>
        </p:txBody>
      </p:sp>
      <p:pic>
        <p:nvPicPr>
          <p:cNvPr id="7" name="Image 6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B632DDAF-C95E-A4F3-1D76-310F48F4C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043" y="2340931"/>
            <a:ext cx="3971925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4913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9C11BC-220B-CB00-1C9A-C0409F9CA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67608"/>
          </a:xfrm>
        </p:spPr>
        <p:txBody>
          <a:bodyPr>
            <a:normAutofit/>
          </a:bodyPr>
          <a:lstStyle/>
          <a:p>
            <a:r>
              <a:rPr lang="fr-FR" sz="2800" dirty="0">
                <a:ea typeface="+mj-lt"/>
                <a:cs typeface="+mj-lt"/>
              </a:rPr>
              <a:t>Sécurisation des données par réplication (</a:t>
            </a:r>
            <a:r>
              <a:rPr lang="fr-FR" sz="2800" dirty="0" err="1">
                <a:ea typeface="+mj-lt"/>
                <a:cs typeface="+mj-lt"/>
              </a:rPr>
              <a:t>ReplicaSet</a:t>
            </a:r>
            <a:r>
              <a:rPr lang="fr-FR" sz="2800" dirty="0">
                <a:ea typeface="+mj-lt"/>
                <a:cs typeface="+mj-lt"/>
              </a:rPr>
              <a:t>)</a:t>
            </a:r>
            <a:endParaRPr lang="fr-FR" sz="28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CD8499-DDBC-0F79-0B94-3E041ED7F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148" y="2478024"/>
            <a:ext cx="4442451" cy="369417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fr-FR" sz="1600" b="1" i="1" dirty="0">
                <a:ea typeface="+mn-lt"/>
                <a:cs typeface="+mn-lt"/>
              </a:rPr>
              <a:t>Objectif :</a:t>
            </a:r>
            <a:r>
              <a:rPr lang="fr-FR" sz="1600" i="1" dirty="0">
                <a:ea typeface="+mn-lt"/>
                <a:cs typeface="+mn-lt"/>
              </a:rPr>
              <a:t> Protéger les données contre les pannes matérielles.</a:t>
            </a:r>
            <a:endParaRPr lang="fr-FR" sz="1600" i="1" dirty="0"/>
          </a:p>
          <a:p>
            <a:pPr marL="0" indent="0">
              <a:buNone/>
            </a:pPr>
            <a:r>
              <a:rPr lang="fr-FR" sz="1600" b="1" dirty="0">
                <a:ea typeface="+mn-lt"/>
                <a:cs typeface="+mn-lt"/>
              </a:rPr>
              <a:t>Actions réalisées :</a:t>
            </a:r>
            <a:endParaRPr lang="fr-FR" sz="1600" dirty="0"/>
          </a:p>
          <a:p>
            <a:r>
              <a:rPr lang="fr-FR" sz="1600" dirty="0">
                <a:ea typeface="+mn-lt"/>
                <a:cs typeface="+mn-lt"/>
              </a:rPr>
              <a:t>Conception d’un </a:t>
            </a:r>
            <a:r>
              <a:rPr lang="fr-FR" sz="1600" dirty="0" err="1">
                <a:ea typeface="+mn-lt"/>
                <a:cs typeface="+mn-lt"/>
              </a:rPr>
              <a:t>ReplicaSet</a:t>
            </a:r>
            <a:r>
              <a:rPr lang="fr-FR" sz="1600" dirty="0">
                <a:ea typeface="+mn-lt"/>
                <a:cs typeface="+mn-lt"/>
              </a:rPr>
              <a:t> avec les instances locales (simulées sur différents ports).</a:t>
            </a:r>
            <a:endParaRPr lang="fr-FR" sz="1600" dirty="0"/>
          </a:p>
          <a:p>
            <a:r>
              <a:rPr lang="fr-FR" sz="1600" dirty="0">
                <a:ea typeface="+mn-lt"/>
                <a:cs typeface="+mn-lt"/>
              </a:rPr>
              <a:t>Création d’un arbitre pour garantir le quorum.</a:t>
            </a:r>
            <a:endParaRPr lang="fr-FR" sz="1600" dirty="0"/>
          </a:p>
          <a:p>
            <a:r>
              <a:rPr lang="fr-FR" sz="1600" dirty="0">
                <a:ea typeface="+mn-lt"/>
                <a:cs typeface="+mn-lt"/>
              </a:rPr>
              <a:t>Vérification de la réplication automatique des documents.</a:t>
            </a:r>
            <a:endParaRPr lang="fr-FR" sz="1600" dirty="0"/>
          </a:p>
          <a:p>
            <a:pPr marL="0" indent="0">
              <a:buNone/>
            </a:pPr>
            <a:r>
              <a:rPr lang="fr-FR" sz="1600" b="1" dirty="0">
                <a:ea typeface="+mn-lt"/>
                <a:cs typeface="+mn-lt"/>
              </a:rPr>
              <a:t>Résultat :</a:t>
            </a:r>
            <a:r>
              <a:rPr lang="fr-FR" sz="1600" dirty="0">
                <a:ea typeface="+mn-lt"/>
                <a:cs typeface="+mn-lt"/>
              </a:rPr>
              <a:t> Les données de la collection sont répliquées sur plusieurs serveurs.</a:t>
            </a:r>
            <a:endParaRPr lang="fr-FR" sz="1600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F260626-B6CD-B317-715B-215515128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3D78C-18BE-42DF-B257-A76470C21C88}" type="datetime1">
              <a:t>06/01/2026</a:t>
            </a:fld>
            <a:endParaRPr lang="en-US"/>
          </a:p>
        </p:txBody>
      </p:sp>
      <p:pic>
        <p:nvPicPr>
          <p:cNvPr id="5" name="Image 4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2EB89C92-ACE0-F46F-8D91-6660766A9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5656" y="2478096"/>
            <a:ext cx="2476500" cy="3697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5593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E1F335-BD08-28D0-BE21-3B3F1F0AF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dirty="0">
                <a:ea typeface="+mj-lt"/>
                <a:cs typeface="+mj-lt"/>
              </a:rPr>
              <a:t>Optimisation des performances avec le </a:t>
            </a:r>
            <a:r>
              <a:rPr lang="fr-FR" sz="2800" err="1">
                <a:ea typeface="+mj-lt"/>
                <a:cs typeface="+mj-lt"/>
              </a:rPr>
              <a:t>sharding</a:t>
            </a:r>
            <a:endParaRPr lang="fr-FR" sz="2800" err="1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3D56CA9-5729-8377-4C3E-BB38B1550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061B0-EDFB-4588-8368-046310E5D9D9}" type="datetime1">
              <a:t>06/01/2026</a:t>
            </a:fld>
            <a:endParaRPr lang="en-US"/>
          </a:p>
        </p:txBody>
      </p:sp>
      <p:pic>
        <p:nvPicPr>
          <p:cNvPr id="7" name="Espace réservé du contenu 6" descr="Une image contenant texte, capture d’écran, Police, diagramme&#10;&#10;Le contenu généré par l’IA peut être incorrect.">
            <a:extLst>
              <a:ext uri="{FF2B5EF4-FFF2-40B4-BE49-F238E27FC236}">
                <a16:creationId xmlns:a16="http://schemas.microsoft.com/office/drawing/2014/main" id="{21740E60-3554-2D27-15F7-7258F92B34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0357" y="2561805"/>
            <a:ext cx="4156243" cy="3694176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BEC4545-C777-0DCB-DB55-553B36FE5CE9}"/>
              </a:ext>
            </a:extLst>
          </p:cNvPr>
          <p:cNvSpPr txBox="1"/>
          <p:nvPr/>
        </p:nvSpPr>
        <p:spPr>
          <a:xfrm>
            <a:off x="418722" y="2557603"/>
            <a:ext cx="4022865" cy="36548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200" b="1" i="1" dirty="0">
                <a:ea typeface="+mn-lt"/>
                <a:cs typeface="+mn-lt"/>
              </a:rPr>
              <a:t>Objectif :</a:t>
            </a:r>
            <a:r>
              <a:rPr lang="fr-FR" sz="1200" i="1" dirty="0">
                <a:ea typeface="+mn-lt"/>
                <a:cs typeface="+mn-lt"/>
              </a:rPr>
              <a:t> Distribuer les données pour gérer de gros volumes et améliorer les performances.</a:t>
            </a:r>
            <a:endParaRPr lang="fr-FR" sz="1200" i="1" dirty="0"/>
          </a:p>
          <a:p>
            <a:endParaRPr lang="fr-FR" sz="1200" i="1" dirty="0">
              <a:ea typeface="+mn-lt"/>
              <a:cs typeface="+mn-lt"/>
            </a:endParaRPr>
          </a:p>
          <a:p>
            <a:pPr>
              <a:spcBef>
                <a:spcPts val="300"/>
              </a:spcBef>
            </a:pPr>
            <a:r>
              <a:rPr lang="fr-FR" sz="1200" b="1" dirty="0">
                <a:ea typeface="+mn-lt"/>
                <a:cs typeface="+mn-lt"/>
              </a:rPr>
              <a:t>Actions réalisées :</a:t>
            </a:r>
            <a:endParaRPr lang="fr-FR" sz="1200" dirty="0">
              <a:ea typeface="+mn-lt"/>
              <a:cs typeface="+mn-lt"/>
            </a:endParaRPr>
          </a:p>
          <a:p>
            <a:pPr marL="285750">
              <a:spcBef>
                <a:spcPts val="600"/>
              </a:spcBef>
              <a:buFont typeface="Arial"/>
              <a:buChar char="•"/>
            </a:pPr>
            <a:r>
              <a:rPr lang="fr-FR" sz="1200" dirty="0">
                <a:ea typeface="+mn-lt"/>
                <a:cs typeface="+mn-lt"/>
              </a:rPr>
              <a:t>  Création d’un cluster </a:t>
            </a:r>
            <a:r>
              <a:rPr lang="fr-FR" sz="1200" err="1">
                <a:ea typeface="+mn-lt"/>
                <a:cs typeface="+mn-lt"/>
              </a:rPr>
              <a:t>sharded</a:t>
            </a:r>
            <a:r>
              <a:rPr lang="fr-FR" sz="1200" dirty="0">
                <a:ea typeface="+mn-lt"/>
                <a:cs typeface="+mn-lt"/>
              </a:rPr>
              <a:t> avec </a:t>
            </a:r>
            <a:r>
              <a:rPr lang="fr-FR" sz="1200" b="1" dirty="0">
                <a:ea typeface="+mn-lt"/>
                <a:cs typeface="+mn-lt"/>
              </a:rPr>
              <a:t>2 </a:t>
            </a:r>
            <a:r>
              <a:rPr lang="fr-FR" sz="1200" b="1" err="1">
                <a:ea typeface="+mn-lt"/>
                <a:cs typeface="+mn-lt"/>
              </a:rPr>
              <a:t>Shards</a:t>
            </a:r>
            <a:r>
              <a:rPr lang="fr-FR" sz="1200" dirty="0">
                <a:ea typeface="+mn-lt"/>
                <a:cs typeface="+mn-lt"/>
              </a:rPr>
              <a:t> (Lyon et Paris).</a:t>
            </a:r>
            <a:endParaRPr lang="fr-FR" sz="1200"/>
          </a:p>
          <a:p>
            <a:pPr marL="285750">
              <a:spcBef>
                <a:spcPts val="600"/>
              </a:spcBef>
              <a:buFont typeface="Arial"/>
              <a:buChar char="•"/>
            </a:pPr>
            <a:r>
              <a:rPr lang="fr-FR" sz="1200" dirty="0">
                <a:ea typeface="+mn-lt"/>
                <a:cs typeface="+mn-lt"/>
              </a:rPr>
              <a:t>  Configuration du </a:t>
            </a:r>
            <a:r>
              <a:rPr lang="fr-FR" sz="1200" b="1" dirty="0">
                <a:ea typeface="+mn-lt"/>
                <a:cs typeface="+mn-lt"/>
              </a:rPr>
              <a:t>Mongos</a:t>
            </a:r>
            <a:r>
              <a:rPr lang="fr-FR" sz="1200" dirty="0">
                <a:ea typeface="+mn-lt"/>
                <a:cs typeface="+mn-lt"/>
              </a:rPr>
              <a:t> pour router les requêtes vers les </a:t>
            </a:r>
            <a:r>
              <a:rPr lang="fr-FR" sz="1200" err="1">
                <a:ea typeface="+mn-lt"/>
                <a:cs typeface="+mn-lt"/>
              </a:rPr>
              <a:t>shards</a:t>
            </a:r>
            <a:r>
              <a:rPr lang="fr-FR" sz="1200" dirty="0">
                <a:ea typeface="+mn-lt"/>
                <a:cs typeface="+mn-lt"/>
              </a:rPr>
              <a:t>.</a:t>
            </a:r>
          </a:p>
          <a:p>
            <a:pPr marL="285750">
              <a:spcBef>
                <a:spcPts val="600"/>
              </a:spcBef>
              <a:buFont typeface="Arial"/>
              <a:buChar char="•"/>
            </a:pPr>
            <a:r>
              <a:rPr lang="fr-FR" sz="1200" dirty="0">
                <a:ea typeface="+mn-lt"/>
                <a:cs typeface="+mn-lt"/>
              </a:rPr>
              <a:t>  Application du </a:t>
            </a:r>
            <a:r>
              <a:rPr lang="fr-FR" sz="1200" b="1" dirty="0" err="1">
                <a:ea typeface="+mn-lt"/>
                <a:cs typeface="+mn-lt"/>
              </a:rPr>
              <a:t>shard</a:t>
            </a:r>
            <a:r>
              <a:rPr lang="fr-FR" sz="1200" b="1" dirty="0">
                <a:ea typeface="+mn-lt"/>
                <a:cs typeface="+mn-lt"/>
              </a:rPr>
              <a:t> key</a:t>
            </a:r>
            <a:r>
              <a:rPr lang="fr-FR" sz="1200" dirty="0">
                <a:ea typeface="+mn-lt"/>
                <a:cs typeface="+mn-lt"/>
              </a:rPr>
              <a:t> sur la collection </a:t>
            </a:r>
            <a:r>
              <a:rPr lang="fr-FR" sz="1200" dirty="0" err="1">
                <a:latin typeface="Consolas"/>
              </a:rPr>
              <a:t>listings_All</a:t>
            </a:r>
            <a:r>
              <a:rPr lang="fr-FR" sz="1200" dirty="0">
                <a:ea typeface="+mn-lt"/>
                <a:cs typeface="+mn-lt"/>
              </a:rPr>
              <a:t> (</a:t>
            </a:r>
            <a:r>
              <a:rPr lang="fr-FR" sz="1200" dirty="0">
                <a:latin typeface="Consolas"/>
              </a:rPr>
              <a:t>city</a:t>
            </a:r>
            <a:r>
              <a:rPr lang="fr-FR" sz="1200" dirty="0">
                <a:ea typeface="+mn-lt"/>
                <a:cs typeface="+mn-lt"/>
              </a:rPr>
              <a:t>).</a:t>
            </a:r>
          </a:p>
          <a:p>
            <a:pPr marL="285750">
              <a:spcBef>
                <a:spcPts val="600"/>
              </a:spcBef>
              <a:buFont typeface="Arial"/>
              <a:buChar char="•"/>
            </a:pPr>
            <a:r>
              <a:rPr lang="fr-FR" sz="1200" dirty="0">
                <a:ea typeface="+mn-lt"/>
                <a:cs typeface="+mn-lt"/>
              </a:rPr>
              <a:t>  Vérification de la répartition des documents sur les </a:t>
            </a:r>
            <a:r>
              <a:rPr lang="fr-FR" sz="1200" err="1">
                <a:ea typeface="+mn-lt"/>
                <a:cs typeface="+mn-lt"/>
              </a:rPr>
              <a:t>shards</a:t>
            </a:r>
            <a:r>
              <a:rPr lang="fr-FR" sz="1200" dirty="0">
                <a:ea typeface="+mn-lt"/>
                <a:cs typeface="+mn-lt"/>
              </a:rPr>
              <a:t>.</a:t>
            </a:r>
            <a:endParaRPr lang="fr-FR" sz="1200" dirty="0"/>
          </a:p>
          <a:p>
            <a:pPr marL="285750">
              <a:spcBef>
                <a:spcPts val="600"/>
              </a:spcBef>
              <a:buFont typeface="Arial"/>
              <a:buChar char="•"/>
            </a:pPr>
            <a:endParaRPr lang="fr-FR" sz="1200" dirty="0">
              <a:ea typeface="+mn-lt"/>
              <a:cs typeface="+mn-lt"/>
            </a:endParaRPr>
          </a:p>
          <a:p>
            <a:r>
              <a:rPr lang="fr-FR" sz="1200" b="1" dirty="0">
                <a:ea typeface="+mn-lt"/>
                <a:cs typeface="+mn-lt"/>
              </a:rPr>
              <a:t>Résultat :</a:t>
            </a:r>
            <a:r>
              <a:rPr lang="fr-FR" sz="1200" dirty="0">
                <a:ea typeface="+mn-lt"/>
                <a:cs typeface="+mn-lt"/>
              </a:rPr>
              <a:t> Les documents sont répartis automatiquement selon la clé de </a:t>
            </a:r>
            <a:r>
              <a:rPr lang="fr-FR" sz="1200" err="1">
                <a:ea typeface="+mn-lt"/>
                <a:cs typeface="+mn-lt"/>
              </a:rPr>
              <a:t>sharding</a:t>
            </a:r>
            <a:r>
              <a:rPr lang="fr-FR" sz="1200" dirty="0">
                <a:ea typeface="+mn-lt"/>
                <a:cs typeface="+mn-lt"/>
              </a:rPr>
              <a:t>, assurant une répartition équilibrée des données.</a:t>
            </a:r>
            <a:endParaRPr lang="fr-FR" sz="1200"/>
          </a:p>
          <a:p>
            <a:pPr algn="l"/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31514152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74D716-55E0-D5DA-208D-4D03A9C1F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dirty="0"/>
              <a:t>Conclusion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C20BA87-F0CE-F7AF-9F57-FA226A0F3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5" y="2346369"/>
            <a:ext cx="7745782" cy="369417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20000"/>
              </a:lnSpc>
              <a:spcBef>
                <a:spcPts val="500"/>
              </a:spcBef>
              <a:buNone/>
            </a:pPr>
            <a:r>
              <a:rPr lang="fr-FR" sz="1400" i="1" dirty="0">
                <a:ea typeface="+mn-lt"/>
                <a:cs typeface="+mn-lt"/>
              </a:rPr>
              <a:t>Ce projet a démontré comment centraliser, sécuriser et exploiter</a:t>
            </a:r>
            <a:endParaRPr lang="fr-FR" sz="1400" dirty="0">
              <a:ea typeface="+mn-lt"/>
              <a:cs typeface="+mn-lt"/>
            </a:endParaRPr>
          </a:p>
          <a:p>
            <a:pPr>
              <a:lnSpc>
                <a:spcPct val="120000"/>
              </a:lnSpc>
              <a:spcBef>
                <a:spcPts val="500"/>
              </a:spcBef>
              <a:buNone/>
            </a:pPr>
            <a:r>
              <a:rPr lang="fr-FR" sz="1400" i="1" dirty="0">
                <a:ea typeface="+mn-lt"/>
                <a:cs typeface="+mn-lt"/>
              </a:rPr>
              <a:t>efficacement les données de locations courte durée à Paris et Lyon pour produire</a:t>
            </a:r>
            <a:endParaRPr lang="fr-FR" sz="1400" dirty="0">
              <a:ea typeface="+mn-lt"/>
              <a:cs typeface="+mn-lt"/>
            </a:endParaRPr>
          </a:p>
          <a:p>
            <a:pPr>
              <a:lnSpc>
                <a:spcPct val="120000"/>
              </a:lnSpc>
              <a:spcBef>
                <a:spcPts val="500"/>
              </a:spcBef>
              <a:buNone/>
            </a:pPr>
            <a:r>
              <a:rPr lang="fr-FR" sz="1400" i="1" dirty="0">
                <a:ea typeface="+mn-lt"/>
                <a:cs typeface="+mn-lt"/>
              </a:rPr>
              <a:t>des analyses pertinentes et visuelles.</a:t>
            </a:r>
            <a:endParaRPr lang="fr-FR" sz="1400"/>
          </a:p>
          <a:p>
            <a:pPr>
              <a:buNone/>
            </a:pPr>
            <a:r>
              <a:rPr lang="fr-FR" sz="1400" dirty="0">
                <a:ea typeface="+mn-lt"/>
                <a:cs typeface="+mn-lt"/>
              </a:rPr>
              <a:t>Les points clés :</a:t>
            </a:r>
          </a:p>
          <a:p>
            <a:pPr lvl="1">
              <a:buFont typeface="Courier New"/>
              <a:buChar char="o"/>
            </a:pPr>
            <a:r>
              <a:rPr lang="fr-FR" sz="1400" dirty="0">
                <a:ea typeface="+mn-lt"/>
                <a:cs typeface="+mn-lt"/>
              </a:rPr>
              <a:t>Une collection unique avec distinction </a:t>
            </a:r>
            <a:r>
              <a:rPr lang="fr-FR" sz="1400" b="1" dirty="0">
                <a:ea typeface="+mn-lt"/>
                <a:cs typeface="+mn-lt"/>
              </a:rPr>
              <a:t>Paris / Lyon</a:t>
            </a:r>
            <a:r>
              <a:rPr lang="fr-FR" sz="1400" dirty="0">
                <a:ea typeface="+mn-lt"/>
                <a:cs typeface="+mn-lt"/>
              </a:rPr>
              <a:t>, prête pour l’analyse</a:t>
            </a:r>
            <a:endParaRPr lang="fr-FR" sz="1400"/>
          </a:p>
          <a:p>
            <a:pPr lvl="1">
              <a:buFont typeface="Courier New"/>
              <a:buChar char="o"/>
            </a:pPr>
            <a:r>
              <a:rPr lang="fr-FR" sz="1400" dirty="0">
                <a:ea typeface="+mn-lt"/>
                <a:cs typeface="+mn-lt"/>
              </a:rPr>
              <a:t>Exploration des données grâce à </a:t>
            </a:r>
            <a:r>
              <a:rPr lang="fr-FR" sz="1400" b="1" dirty="0">
                <a:ea typeface="+mn-lt"/>
                <a:cs typeface="+mn-lt"/>
              </a:rPr>
              <a:t>requêtes MongoDB et Polars</a:t>
            </a:r>
            <a:r>
              <a:rPr lang="fr-FR" sz="1400" dirty="0">
                <a:ea typeface="+mn-lt"/>
                <a:cs typeface="+mn-lt"/>
              </a:rPr>
              <a:t>, pour filtrer et comprendre les tendances</a:t>
            </a:r>
            <a:endParaRPr lang="fr-FR" sz="1400"/>
          </a:p>
          <a:p>
            <a:pPr lvl="1">
              <a:buFont typeface="Courier New"/>
              <a:buChar char="o"/>
            </a:pPr>
            <a:r>
              <a:rPr lang="fr-FR" sz="1400" dirty="0">
                <a:ea typeface="+mn-lt"/>
                <a:cs typeface="+mn-lt"/>
              </a:rPr>
              <a:t>Visualisations interactives générées avec </a:t>
            </a:r>
            <a:r>
              <a:rPr lang="fr-FR" sz="1400" b="1" dirty="0">
                <a:ea typeface="+mn-lt"/>
                <a:cs typeface="+mn-lt"/>
              </a:rPr>
              <a:t>Tableau Public</a:t>
            </a:r>
            <a:r>
              <a:rPr lang="fr-FR" sz="1400" dirty="0">
                <a:ea typeface="+mn-lt"/>
                <a:cs typeface="+mn-lt"/>
              </a:rPr>
              <a:t> pour appuyer les conclusions</a:t>
            </a:r>
            <a:endParaRPr lang="fr-FR" sz="1400"/>
          </a:p>
          <a:p>
            <a:pPr lvl="1">
              <a:buFont typeface="Courier New"/>
              <a:buChar char="o"/>
            </a:pPr>
            <a:r>
              <a:rPr lang="fr-FR" sz="1400" dirty="0">
                <a:ea typeface="+mn-lt"/>
                <a:cs typeface="+mn-lt"/>
              </a:rPr>
              <a:t>Sécurité et disponibilité des données assurées par le </a:t>
            </a:r>
            <a:r>
              <a:rPr lang="fr-FR" sz="1400" b="1" dirty="0" err="1">
                <a:ea typeface="+mn-lt"/>
                <a:cs typeface="+mn-lt"/>
              </a:rPr>
              <a:t>ReplicaSet</a:t>
            </a:r>
            <a:endParaRPr lang="fr-FR" sz="1400"/>
          </a:p>
          <a:p>
            <a:pPr lvl="1">
              <a:buFont typeface="Courier New"/>
              <a:buChar char="o"/>
            </a:pPr>
            <a:r>
              <a:rPr lang="fr-FR" sz="1400" dirty="0">
                <a:ea typeface="+mn-lt"/>
                <a:cs typeface="+mn-lt"/>
              </a:rPr>
              <a:t>Optimisation des performances des requêtes locales grâce au </a:t>
            </a:r>
            <a:r>
              <a:rPr lang="fr-FR" sz="1400" b="1" dirty="0" err="1">
                <a:ea typeface="+mn-lt"/>
                <a:cs typeface="+mn-lt"/>
              </a:rPr>
              <a:t>sharding</a:t>
            </a:r>
            <a:endParaRPr lang="fr-FR" sz="1600"/>
          </a:p>
          <a:p>
            <a:pPr marL="0" indent="0">
              <a:buNone/>
            </a:pPr>
            <a:endParaRPr lang="fr-FR" sz="160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6E0AF23-36D2-9BF9-867B-78EF06C11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FDA91-0E1C-462D-903D-106C452D1671}" type="datetime1">
              <a:t>06/01/2026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447550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ccentBoxVTI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AccentBox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F4FE582F-5DDE-4E50-A331-B77FB79D7361}" vid="{42624B42-66F4-4B9A-A3DB-EB561F1627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Affichage à l'écran (4:3)</PresentationFormat>
  <Slides>21</Slides>
  <Notes>0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2" baseType="lpstr">
      <vt:lpstr>AccentBoxVTI</vt:lpstr>
      <vt:lpstr>Analyse de la base données MongoDB – Locations courte durée à Paris/Lyon</vt:lpstr>
      <vt:lpstr>Contexte du projet</vt:lpstr>
      <vt:lpstr>Choix NoSQL</vt:lpstr>
      <vt:lpstr>Vérification des données importées</vt:lpstr>
      <vt:lpstr>Requête n°1 - Répartition des Annonces par type de location</vt:lpstr>
      <vt:lpstr>Requête n°2 Top 5 annonces par nombre d’évaluations</vt:lpstr>
      <vt:lpstr>Requête n°3 Nombre total d’hôtes différents</vt:lpstr>
      <vt:lpstr>Requête n°4 Locations réservables instantanément</vt:lpstr>
      <vt:lpstr>Requête n°5 Hôtes avec plus de 100 annonces</vt:lpstr>
      <vt:lpstr>Requête avec polars : les super hôtes</vt:lpstr>
      <vt:lpstr>Requête avec polars : Taux de réservation moyen par mois par type de logement</vt:lpstr>
      <vt:lpstr>Requête avec polars :Médiane du nombre d’avis (tous logements)</vt:lpstr>
      <vt:lpstr>Requête avec polars : Médiane du nombre d’avis par type d’hôte</vt:lpstr>
      <vt:lpstr>Requête avec polars : Densité de logements par quartier</vt:lpstr>
      <vt:lpstr>Requête avec polars : Quartiers avec le plus fort taux de réservation mensuel</vt:lpstr>
      <vt:lpstr>Connexion de Tableau desktop à la base de données MongoDB</vt:lpstr>
      <vt:lpstr>Exploration des données par des graphiques Tableau desktop</vt:lpstr>
      <vt:lpstr>Importation et centralisation des données</vt:lpstr>
      <vt:lpstr>Sécurisation des données par réplication (ReplicaSet)</vt:lpstr>
      <vt:lpstr>Optimisation des performances avec le sharding</vt:lpstr>
      <vt:lpstr>Conclusion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236</cp:revision>
  <dcterms:created xsi:type="dcterms:W3CDTF">2013-01-27T09:14:16Z</dcterms:created>
  <dcterms:modified xsi:type="dcterms:W3CDTF">2026-01-06T13:51:58Z</dcterms:modified>
  <cp:category/>
</cp:coreProperties>
</file>